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5" r:id="rId17"/>
    <p:sldId id="266" r:id="rId18"/>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5.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 Folie zeigt die komplette Pipeline von der Datenquelle bis zur Nutzeroberfläche – ganz bewusst sehr abstrakt ("high level"). Details folgen auf den nächsten Folien.</a:t>
            </a:r>
          </a:p>
          <a:p/>
          <a:p>
            <a:r>
              <a:t>Die zentrale Aussage der Folie: Das gesamte System läuft auf EINEM Server an der HdM. Alle Module sind in der großen Box "HdM-Server" zusammengefasst: Ingestion, MinIO, Preprocessing, Silver Enriched, PostgreSQL, Backend und Frontend. Nur zwei Dinge liegen außerhalb dieses Servers: die Podcast-Datenquelle (das Internet) und der Spark-Server mit den KI-Modellen.</a:t>
            </a:r>
          </a:p>
          <a:p/>
          <a:p>
            <a:r>
              <a:t>Der Fluss von links nach rechts:</a:t>
            </a:r>
          </a:p>
          <a:p>
            <a:r>
              <a:t>1) Ingestion (Go): Holt RSS-/API-Feeds von Podcast-Anbietern und legt rohe Dateien (Audio, Feed) unverändert im Objektspeicher MinIO ab. Noch keine inhaltliche Verarbeitung.</a:t>
            </a:r>
          </a:p>
          <a:p>
            <a:r>
              <a:t>2) MinIO: Ein S3-kompatibler Objektspeicher für große Binärdateien (v. a. Audiodateien). Die Datenbank speichert nur Verweise, nicht die Audiodateien selbst. (Grau dargestellt = Datenspeicher, kein Verarbeitungsmodul.)</a:t>
            </a:r>
          </a:p>
          <a:p>
            <a:r>
              <a:t>3) Preprocessing: Transcription wandelt Audio in Text um (Modell Whisper), Sectioning zerlegt den Text in Kapitel.</a:t>
            </a:r>
          </a:p>
          <a:p>
            <a:r>
              <a:t>4) Silver Enriched: Der Anreicherungsschritt mit vier Modulen (Summarizer, Fact Checker, Embedder, Emotion Analyser) – das Kernthema dieser Präsentation.</a:t>
            </a:r>
          </a:p>
          <a:p>
            <a:r>
              <a:t>5) PostgreSQL: Zentrale Datenbank, speichert klassische Tabellen UND Vektor-Embeddings (über pgvector) für die semantische Suche.</a:t>
            </a:r>
          </a:p>
          <a:p>
            <a:r>
              <a:t>6) Backend: Stellt die API bereit, über die das Frontend Daten abfragt; erzeugt bei Bedarf temporäre, abgesicherte Links zu Audiodateien in MinIO.</a:t>
            </a:r>
          </a:p>
          <a:p>
            <a:r>
              <a:t>7) Frontend: Web-Oberfläche zum Durchsuchen, Lesen und Anhören (Audio wird direkt aus MinIO gestreamt).</a:t>
            </a:r>
          </a:p>
          <a:p/>
          <a:p>
            <a:r>
              <a:t>Der Spark-Server (orange, außerhalb): Die rechenintensiven KI-Modelle – Whisper für die Transkription und wav2vec2 für die Emotionserkennung – laufen NICHT auf dem HdM-Server, sondern auf einem separaten, leistungsstärkeren Spark-Server. Der HdM-Server ruft diese Modelle bei Bedarf über ganz normale HTTP-Requests auf (gestrichelte Pfeile: einmal aus dem Preprocessing für Whisper, einmal aus Silver Enriched für wav2vec2). Die Netzwerk-Verbindung zwischen HdM-Server und Spark-Server wird über Tailscale (ein privates VPN) hergestellt.</a:t>
            </a:r>
          </a:p>
          <a:p/>
          <a:p>
            <a:r>
              <a:t>Warum diese Trennung? Die KI-Modelle brauchen viel Rechenleistung (idealerweise GPU). Indem man sie auf den Spark-Server auslagert und nur per HTTP anspricht, bleibt der HdM-Server schlank und muss selbst keine GPU-/Modell-Abhängigkeiten vorhalten.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 Folie ordnet die Architektur von Folie 1 betrieblich ein und macht die wichtigste Aussage noch einmal explizit: Wo läuft was?</a:t>
            </a:r>
          </a:p>
          <a:p/>
          <a:p>
            <a:r>
              <a:t>HdM-Server (links): Das gesamte System läuft auf einem einzigen Server an der HdM. Dort liegen ALLE Module – Ingestion, Preprocessing, Silver Enriched (Processing), Backend, Frontend – sowie die Datenbank (PostgreSQL, inklusive der Vektoren für die semantische Suche) und der Objektspeicher (MinIO). Es gibt also einen zentralen, durchgehend verfügbaren Ort für den kompletten Anwendungs-Stack, unabhängig von einzelnen Entwickler-Rechnern.</a:t>
            </a:r>
          </a:p>
          <a:p/>
          <a:p>
            <a:r>
              <a:t>Spark-Server (rechts, extern): Die rechenintensiven KI-Modelle laufen bewusst NICHT auf dem HdM-Server, sondern auf einem separaten Spark-Server:</a:t>
            </a:r>
          </a:p>
          <a:p>
            <a:r>
              <a:t>- Whisper für die Transkription (Audio → Text), gebraucht im Preprocessing.</a:t>
            </a:r>
          </a:p>
          <a:p>
            <a:r>
              <a:t>- wav2vec2 für die Emotionserkennung, gebraucht in Silver Enriched.</a:t>
            </a:r>
          </a:p>
          <a:p>
            <a:r>
              <a:t>Diese Modelle brauchen viel Rechenleistung (idealerweise GPU).</a:t>
            </a:r>
          </a:p>
          <a:p/>
          <a:p>
            <a:r>
              <a:t>Verbindung: Der HdM-Server spricht den Spark-Server über ganz normale HTTP-Requests an – er schickt z. B. einen Audio-Ausschnitt hin und bekommt das Ergebnis (Transkript bzw. Emotion) zurück. Die Netzwerk-Verbindung zwischen beiden Servern wird über Tailscale hergestellt (ein privates VPN, das die Geräte sicher miteinander vernetzt).</a:t>
            </a:r>
          </a:p>
          <a:p/>
          <a:p>
            <a:r>
              <a:t>Der Nutzen dieser Trennung: Weil die schwergewichtigen Modelle ausgelagert sind und nur per HTTP angesprochen werden, bleibt der HdM-Server selbst schlank und einfach – er braucht keine GPU und keine Modell-Abhängigkeiten. Den Spark-Server könnte man bei Bedarf auch austauschen oder aufrüsten, ohne den Rest des Systems anzufassen, weil die Schnittstelle nur ein einfacher HTTP-Aufruf ist.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 Folie führt in den Teil der Pipeline ein, der in den folgenden Folien im Detail behandelt wird: Silver Enriched.</a:t>
            </a:r>
          </a:p>
          <a:p/>
          <a:p>
            <a:r>
              <a:t>Einordnung: Silver Enriched ist der vierte Schritt der Datenpipeline. Davor liegen Ingestion (Rohdaten holen), Transcription (Audio in Text umwandeln) und Sectioning (Text in Kapitel zerlegen). Diese drei Schritte erzeugen die "Silver"-Rohdaten: Transkript-Zeilen und Kapitel. Silver Enriched nimmt diese Rohdaten und erzeugt daraus zusätzliche, inhaltlich wertvolle Informationen – daher "Enriched" (angereichert).</a:t>
            </a:r>
          </a:p>
          <a:p/>
          <a:p>
            <a:r>
              <a:t>Die vier Module:</a:t>
            </a:r>
          </a:p>
          <a:p>
            <a:r>
              <a:t>1. Text Summarizer – fasst Kapitel und ganze Episoden automatisiert zusammen.</a:t>
            </a:r>
          </a:p>
          <a:p>
            <a:r>
              <a:t>2. Fact Checker – findet überprüfbare Behauptungen im Transkript, recherchiert sie im Web und bewertet sie (z. B. wahr, irreführend, falsch).</a:t>
            </a:r>
          </a:p>
          <a:p>
            <a:r>
              <a:t>3. Embedder – erzeugt Vektor-Repräsentationen (Embeddings) für die semantische Suche, also "finde ähnliche/passende Inhalte" statt nur exakter Stichwortsuche.</a:t>
            </a:r>
          </a:p>
          <a:p>
            <a:r>
              <a:t>4. Emotion Analyser – erkennt anhand des Audios, welche Emotion in einer einzelnen Transkript-Zeile mitschwingt (z. B. fröhlich, wütend, traurig, neutral).</a:t>
            </a:r>
          </a:p>
          <a:p/>
          <a:p>
            <a:r>
              <a:t>Jedes Modul ist komplett eigenständig: Es hat seinen eigenen Input, Output und seine eigene Logik. Trotzdem lassen sie sich über einen zentralen "Runner" gemeinsam und koordiniert ausführen (siehe Folie "Processing Pipeline Runner").</a:t>
            </a:r>
          </a:p>
          <a:p/>
          <a:p>
            <a:r>
              <a:t>Technischer Hintergrund (kurz): Jeder Datensatz trägt zwei Zeitstempel – wann er zuletzt durch die Vorverarbeitung verändert wurde (preprocessing_updated_at) und wann er zuletzt durch Silver Enriched verarbeitet wurde (processing_updated_at). Dieses Zusammenspiel ist die Grundlage für die Lade-Strategie, die auf der nächsten Folie erklärt wird.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 Folie erklärt das zentrale Steuerungsprinzip der gesamten Silver-Enriched-Schicht: Wie weiß die Pipeline, was sie (erneut) verarbeiten muss?</a:t>
            </a:r>
          </a:p>
          <a:p/>
          <a:p>
            <a:r>
              <a:t>Full Load: Die einfachste Strategie. Es wird einfach alles verarbeitet, ohne zu prüfen, ob ein Datensatz schon einmal bearbeitet wurde. Das ist unkompliziert, aber bei großen Datenmengen teuer (jeder LLM-Aufruf, jede Web-Suche, jede Audio-Analyse kostet Zeit/Geld). Sinnvoll z. B. bei der Erstbefüllung einer leeren Datenbank oder wenn man nach einem Modellwechsel bewusst alles neu berechnen möchte.</a:t>
            </a:r>
          </a:p>
          <a:p/>
          <a:p>
            <a:r>
              <a:t>Delta Load (der Normalfall im laufenden Betrieb): Es wird nur das verarbeitet, was sich seit dem letzten erfolgreichen Lauf geändert hat. Das spart massiv Kosten, weil bereits verarbeitete, unveränderte Daten nicht nochmal durch teure KI-Modelle geschickt werden.</a:t>
            </a:r>
          </a:p>
          <a:p/>
          <a:p>
            <a:r>
              <a:t>Wie wird "neu/geändert" erkannt? Über ein sogenanntes Wasserzeichen (Watermark): Jedes der vier Module merkt sich, wann es zuletzt erfolgreich gelaufen ist (in einer Tabelle namens pipeline_batches). Bei jedem neuen Lauf vergleicht das Modul den Zeitpunkt der letzten inhaltlichen Änderung eines Datensatzes (preprocessing_updated_at) mit diesem Wasserzeichen. Ist der Datensatz neuer als das Wasserzeichen, wird er verarbeitet – sonst überspringt das Modul ihn.</a:t>
            </a:r>
          </a:p>
          <a:p/>
          <a:p>
            <a:r>
              <a:t>Wichtige Detail-Punkte (bei Bedarf erläutern):</a:t>
            </a:r>
          </a:p>
          <a:p>
            <a:r>
              <a:t>- Gab es noch nie einen erfolgreichen Lauf, ist das Wasserzeichen "leer" – dann verhält sich Delta Load beim ersten Mal automatisch wie Full Load.</a:t>
            </a:r>
          </a:p>
          <a:p>
            <a:r>
              <a:t>- Schlägt ein Lauf fehl, wird das Wasserzeichen NICHT vorgerückt – beim nächsten Versuch wird einfach wieder derselbe Delta-Bereich verarbeitet. Es geht also nichts verloren.</a:t>
            </a:r>
          </a:p>
          <a:p>
            <a:r>
              <a:t>- Jedes der vier Module hat sein eigenes, unabhängiges Wasserzeichen, weil sie zu unterschiedlichen Zeiten unterschiedlich oft laufen können.</a:t>
            </a:r>
          </a:p>
          <a:p>
            <a:r>
              <a:t>- Ein "Dry Run" (Testlauf ohne tatsächliches Schreiben) rückt das Wasserzeichen ebenfalls nicht vor.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 Folie zeigt, wie der "Processing Pipeline Runner" (00_pipeline_processing_runner.py) den gesamten Lauf der vier Module steuert.</a:t>
            </a:r>
          </a:p>
          <a:p/>
          <a:p>
            <a:r>
              <a:t>Grundidee: Der Runner ist der zentrale Einstiegspunkt. Man startet ihn einmal (per Kommandozeile, z. B. mit Modus "delta" und einer Liste an Schritten), und er übernimmt den Rest:</a:t>
            </a:r>
          </a:p>
          <a:p>
            <a:r>
              <a:t>- Er legt einen gemeinsamen Zeitstempel für den ganzen Lauf fest (damit alle Module, die in diesem Lauf etwas schreiben, denselben Verarbeitungszeitpunkt eintragen).</a:t>
            </a:r>
          </a:p>
          <a:p>
            <a:r>
              <a:t>- Er startet die einzelnen Module ("Steps").</a:t>
            </a:r>
          </a:p>
          <a:p/>
          <a:p>
            <a:r>
              <a:t>Parallele Ausführung: Drei der vier Module – Text Summarizer, Fact Checker und Emotion Analyser – sind voneinander unabhängig (sie lesen unterschiedliche Quellen und schreiben unterschiedliche Zieltabellen). Deshalb lässt der Runner sie gleichzeitig laufen, statt sie nacheinander abzuarbeiten. Das spart Zeit, weil zwei der drei Module hauptsächlich auf Antworten von außen warten (LLM-Aufrufe, Web-Suche), während Emotion Analyser eher die Rechenleistung beansprucht – sie behindern sich also kaum gegenseitig.</a:t>
            </a:r>
          </a:p>
          <a:p/>
          <a:p>
            <a:r>
              <a:t>Abhängigkeit beim Embedder: Der Embedder braucht auf Episoden-Ebene die fertige Zusammenfassung aus dem Text Summarizer (er embedded die Zusammenfassung, nicht das Rohtranskript). Deshalb startet der Embedder erst, sobald der Text Summarizer fertig ist – läuft danach aber parallel zu den noch laufenden anderen Modulen weiter. Ist der Text Summarizer kein Teil des aktuellen Laufs, startet der Embedder sofort.</a:t>
            </a:r>
          </a:p>
          <a:p/>
          <a:p>
            <a:r>
              <a:t>Robustheit: Jedes Modul verwaltet seine eigene Datenbank-Verbindung und seinen eigenen "Batch"-Eintrag (ein Protokoll-Datensatz: gestartet, erfolgreich, fehlgeschlagen). Schlägt ein Modul fehl, rollt es seine eigene Arbeit zurück, ohne die anderen, bereits laufenden Module zu stoppen. Der Runner sammelt alle Fehler und meldet sie am Ende gesammelt – nichts schlägt "leise" fehl.</a:t>
            </a:r>
          </a:p>
          <a:p/>
          <a:p>
            <a:r>
              <a:t>Dauerbetrieb (Poll-Modus, optional): Der Runner kann auch dauerhaft im Hintergrund laufen und sich selbst anstoßen, sobald die Vorverarbeitung (Sectioning) neue Daten geschrieben hat – ähnlich einem Wächter, der regelmäßig nachschaut, ob es etwas Neues zu tun gibt, statt manuell gestartet zu werden.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 Summarizer ist das erste der vier Module und inhaltlich das einfachste.</a:t>
            </a:r>
          </a:p>
          <a:p/>
          <a:p>
            <a:r>
              <a:t>Ablauf in zwei Stufen:</a:t>
            </a:r>
          </a:p>
          <a:p>
            <a:r>
              <a:t>1. Pro Kapitel: Das Modul nimmt das Transkript eines einzelnen Kapitels und schickt es an ein Sprachmodell (LLM) mit der Anweisung, es in 1-3 Sätzen zusammenzufassen.</a:t>
            </a:r>
          </a:p>
          <a:p>
            <a:r>
              <a:t>2. Pro Episode: Anschließend werden alle Kapitel-Zusammenfassungen einer Episode gesammelt und erneut an das LLM geschickt – dieses Mal mit der Anweisung, daraus eine Gesamt-Zusammenfassung der Episode plus eine Liste der wichtigsten Kernaussagen zu erstellen. Wichtig: Auf Episoden-Ebene wird NICHT das komplette Rohtranskript noch einmal verarbeitet, sondern nur die bereits erzeugten, kürzeren Kapitel-Zusammenfassungen – das spart Rechenzeit/Kosten.</a:t>
            </a:r>
          </a:p>
          <a:p/>
          <a:p>
            <a:r>
              <a:t>Modell: Je nach Konfiguration läuft das LLM entweder über einen Cloud-Anbieter (z. B. Google Gemini) oder lokal über Ollama. Die "Temperatur" (ein Maß für die Zufälligkeit der Antwort) ist auf 0 gesetzt, damit bei gleichem Input möglichst immer dieselbe Zusammenfassung herauskommt – wichtig für Nachvollziehbarkeit und Wiederholbarkeit.</a:t>
            </a:r>
          </a:p>
          <a:p/>
          <a:p>
            <a:r>
              <a:t>Ausgabe: Anders als beim Fact Checker liefert dieses Modul reinen Freitext (keine strukturierten Datenfelder), der direkt in die Datenbank-Spalten "chapters.summary" und "episodes.summary" geschrieben wird.</a:t>
            </a:r>
          </a:p>
          <a:p/>
          <a:p>
            <a:r>
              <a:t>Bedeutung für andere Module: Die Episoden-Zusammenfassung wird später vom Embedder weiterverwendet (siehe Modul 3) – der Embedder kann also erst auf Episoden-Ebene arbeiten, wenn der Text Summarizer bereits gelaufen ist.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Fact Checker ist das aufwendigste der vier Module: Hier arbeiten drei verschiedene Sprachmodell-Rollen sowie eine echte Web-Recherche zusammen.</a:t>
            </a:r>
          </a:p>
          <a:p/>
          <a:p>
            <a:r>
              <a:t>Ablauf:</a:t>
            </a:r>
          </a:p>
          <a:p>
            <a:r>
              <a:t>1. Behauptungen finden: Das LLM liest das Kapitel-Transkript und extrahiert nur überprüfbare, sachliche Behauptungen (z. B. Zahlen, Fakten) – Meinungen, Witze oder Spekulationen werden bewusst ignoriert.</a:t>
            </a:r>
          </a:p>
          <a:p>
            <a:r>
              <a:t>2. Suchanfragen formulieren: Für jede gefundene Behauptung erzeugt das LLM passende Suchanfragen.</a:t>
            </a:r>
          </a:p>
          <a:p>
            <a:r>
              <a:t>3. Web-Suche: Mit diesen Anfragen wird im Internet recherchiert (über DuckDuckGo).</a:t>
            </a:r>
          </a:p>
          <a:p>
            <a:r>
              <a:t>4. Bewerten: Ein drittes LLM bekommt die Behauptung zusammen mit den gefundenen Quellen und muss ausschließlich anhand dieser Quellen urteilen – wichtig: das Modell darf NICHT aus eigenem "Vorwissen" urteilen, nur anhand der recherchierten Belege. Das macht das Urteil nachvollziehbar (jedes Urteil hat zugehörige Quellen).</a:t>
            </a:r>
          </a:p>
          <a:p/>
          <a:p>
            <a:r>
              <a:t>Urteile (Verdicts): wahr (TRUE), größtenteils wahr (MOSTLY_TRUE), irreführend (MISLEADING), falsch (FALSE), nicht überprüfbar (UNVERIFIABLE – z. B. wenn keine passenden Quellen gefunden wurden).</a:t>
            </a:r>
          </a:p>
          <a:p/>
          <a:p>
            <a:r>
              <a:t>Parallelisierung (kurz erwähnen, nicht im Detail): Sowohl mehrere Kapitel als auch mehrere Behauptungen innerhalb eines Kapitels werden gleichzeitig verarbeitet, um die vielen Web-Anfragen und LLM-Aufrufe zu beschleunigen. Schlägt eine einzelne Suchanfrage fehl, wird sie einmal versucht und bei Fehlschlag einfach übersprungen (kein wiederholtes Nachfragen), damit eine einzelne blockierte Anfrage nicht den ganzen Lauf verlangsamt.</a:t>
            </a:r>
          </a:p>
          <a:p/>
          <a:p>
            <a:r>
              <a:t>Speicherung: Jede Behauptung wird einzeln gespeichert; ein erneuter Lauf über dasselbe Kapitel überschreibt die vorherigen Behauptungen, statt sie zu duplizieren.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Embedder erzeugt sogenannte Embeddings – mathematische Vektoren, die die inhaltliche Bedeutung eines Textes so abbilden, dass ähnliche Inhalte auch im Vektorraum nahe beieinander liegen. Das ist die technische Grundlage für die semantische Suche im Frontend: Nutzer können nach Bedeutung statt nach exakten Wörtern suchen.</a:t>
            </a:r>
          </a:p>
          <a:p/>
          <a:p>
            <a:r>
              <a:t>Drei Ebenen, jede mit eigener Quelle:</a:t>
            </a:r>
          </a:p>
          <a:p>
            <a:r>
              <a:t>- Podcast-Ebene: Es wird nur der Podcast-Titel eingebettet – die gröbste Ebene, dient der groben thematischen Einordnung.</a:t>
            </a:r>
          </a:p>
          <a:p>
            <a:r>
              <a:t>- Episoden-Ebene: Hier wird die Episoden-Zusammenfassung eingebettet, NICHT das komplette Rohtranskript. Das setzt voraus, dass der Text Summarizer (Modul 1) für diese Episode bereits gelaufen ist – sonst gibt es auf dieser Ebene schlicht noch nichts zu embedden.</a:t>
            </a:r>
          </a:p>
          <a:p>
            <a:r>
              <a:t>- Kapitel-Ebene: Hier wird der volle Transkript-Text des Kapitels eingebettet – die feinkörnigste Ebene.</a:t>
            </a:r>
          </a:p>
          <a:p/>
          <a:p>
            <a:r>
              <a:t>Modell: Es kommt ein reines Embedding-Modell zum Einsatz (kein Chat-/Reasoning-Modell), z. B. lokal über Ollama (qwen3-embedding) oder über eine Cloud-API (Google Gemini Embeddings). Wichtig: Nach jedem Embedding-Aufruf wird geprüft, ob die tatsächliche Vektor-Länge zur erwarteten Länge passt. Stimmt sie nicht überein, bricht der Lauf bewusst mit einem klaren Fehler ab, statt fehlerhafte Daten in die Datenbank zu schreiben.</a:t>
            </a:r>
          </a:p>
          <a:p/>
          <a:p>
            <a:r>
              <a:t>Speicherung: Die Vektoren werden in PostgreSQL über eine Erweiterung namens pgvector gespeichert, in einem speicherschonenden Format (halfvec). Ein erneuter Lauf überschreibt den bestehenden Vektor eines Kapitels/einer Episode/eines Podcasts statt einen zweiten anzulegen.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Emotion Analyser ist das einzige Modul, das nicht mit einem Sprachmodell (LLM) arbeitet, sondern mit einem spezialisierten Audio-Klassifikationsmodell (wav2vec2).</a:t>
            </a:r>
          </a:p>
          <a:p/>
          <a:p>
            <a:r>
              <a:t>Ablauf:</a:t>
            </a:r>
          </a:p>
          <a:p>
            <a:r>
              <a:t>1. Für jede Episode werden die zugehörigen Transkript-Zeilen (mit Start-/Endzeit) geladen.</a:t>
            </a:r>
          </a:p>
          <a:p>
            <a:r>
              <a:t>2. Die komplette Audiodatei der Episode wird aus MinIO geladen – aber nur einmal pro Episode, danach liegt sie in einem lokalen Cache, damit nicht jede einzelne Zeile die ganze Datei erneut herunterlädt.</a:t>
            </a:r>
          </a:p>
          <a:p>
            <a:r>
              <a:t>3. Für jede Transkript-Zeile wird per ffmpeg genau der passende Audio-Ausschnitt herausgeschnitten (mono, auf die vom Modell erwartete Abtastrate gebracht).</a:t>
            </a:r>
          </a:p>
          <a:p>
            <a:r>
              <a:t>4. Dieser kurze Ausschnitt wird klassifiziert: Im aktuellen Aufbau wird er per HTTP-Request an den externen Spark-Server geschickt, der das wav2vec2-Modell vorhält, die Klassifikation übernimmt und das Ergebnis zurückschickt. So muss der HdM-Server selbst keine GPU-/Modell-Abhängigkeiten vorhalten. (Technisch wäre auch ein lokaler Modus im selben Prozess möglich, der Normalfall ist aber der Spark-Server.)</a:t>
            </a:r>
          </a:p>
          <a:p>
            <a:r>
              <a:t>5. Das Ergebnis (ein Emotion-Label und ein Konfidenzwert) wird in der Datenbank an der jeweiligen Transkript-Zeile gespeichert.</a:t>
            </a:r>
          </a:p>
          <a:p/>
          <a:p>
            <a:r>
              <a:t>Emotion-Labels: Die rohen Modell-Ausgaben werden auf verständliche Begriffe vereinheitlicht: neutral, fröhlich (happy), wütend (angry), traurig (sad).</a:t>
            </a:r>
          </a:p>
          <a:p/>
          <a:p>
            <a:r>
              <a:t>Fehlerfälle: Ist zu einer Episode keine Audiodatei auffindbar, wird nur diese Episode übersprungen, nicht der ganze Lauf abgebrochen. Ist ein Audio-Segment zu kurz für eine sinnvolle Auswertung, wird nur diese einzelne Zeile übersprungen.</a:t>
            </a:r>
          </a:p>
          <a:p/>
          <a:p>
            <a:r>
              <a:t>Besonderheit gegenüber den anderen drei Modulen: Dieses Modul hat keine Test-Filter (z. B. "nur eine Episode testen") wie die anderen drei – es arbeitet immer auf dem vollen Delta- oder Full-Bereich.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 Folie vertieft die vorige (Full Load vs. Delta Load) technisch und zeigt, wie die "Watermark" konkret pro Modul funktioniert.</a:t>
            </a:r>
          </a:p>
          <a:p/>
          <a:p>
            <a:r>
              <a:t>Kerngedanke: Die Watermark ist KEIN Wert pro Zeile, sondern EIN Zeitstempel pro Modul – nämlich der Startzeitpunkt (start_ts) des letzten ERFOLGREICHEN Laufs dieses Moduls. Sie wird live aus der Tabelle pipeline_batches berechnet:</a:t>
            </a:r>
          </a:p>
          <a:p>
            <a:r>
              <a:t>  SELECT MAX(start_ts) FROM pipeline_batches WHERE stage = '&lt;modul&gt;' AND status = 'success'.</a:t>
            </a:r>
          </a:p>
          <a:p/>
          <a:p>
            <a:r>
              <a:t>Delta-Filter: Im Delta-Modus holt sich jedes Modul vor der eigentlichen Abfrage seine Watermark und hängt an die SELECT-Abfrage die Bedingung 'preprocessing_updated_at &gt; watermark' an. Es werden also nur Datensätze gelesen, die seit dem letzten erfolgreichen Lauf inhaltlich neuer sind. Ist die Watermark NULL (das Modul war noch nie erfolgreich), entfällt der Filter komplett – der erste Delta-Lauf verhält sich dann automatisch wie ein Full Load. Im Full-Modus wird die Watermark gar nicht erst geholt; es gibt keinen Filter.</a:t>
            </a:r>
          </a:p>
          <a:p/>
          <a:p>
            <a:r>
              <a:t>Die Tabelle rechts zeigt, dass jedes Modul gegen eine eigene Quellspalte und eine eigene Watermark-Stage filtert:</a:t>
            </a:r>
          </a:p>
          <a:p>
            <a:r>
              <a:t>- Text Summarizer und Fact Checker lesen beide chapters.preprocessing_updated_at, haben aber je eine EIGENE Stage ('text_summarizer' bzw. 'fact_checker') – ihre Watermarks sind unabhängig.</a:t>
            </a:r>
          </a:p>
          <a:p>
            <a:r>
              <a:t>- Der Embedder arbeitet auf drei Ebenen (Kapitel/Episode/Podcast) mit drei verschiedenen Quellspalten (chapters / episodes / podcasts), teilt sich aber EINE gemeinsame Watermark-Stage 'embedder', weil alle drei Ebenen im selben Lauf als ein Batch-Eintrag laufen.</a:t>
            </a:r>
          </a:p>
          <a:p>
            <a:r>
              <a:t>- Emotion Analyser filtert transcript_lines.preprocessing_updated_at gegen die Stage 'emotion_scoring'.</a:t>
            </a:r>
          </a:p>
          <a:p/>
          <a:p>
            <a:r>
              <a:t>Warum start_ts und nicht fin_ts (Endzeit)? Würde man die Endzeit als Watermark nehmen, könnte ein Datensatz, der GENAU WÄHREND des Laufs neu vorverarbeitet wird (also nach dem Lesen, aber vor dem Ende), fälschlich als 'schon erledigt' gelten, obwohl er nie gelesen wurde. Mit start_ts wird ein solcher Datensatz beim nächsten Lauf einfach erneut aufgenommen – schlimmstenfalls eine harmlose Wiederholung (die Writes sind idempotent über ON CONFLICT / UPDATE). So geht garantiert nichts verloren.</a:t>
            </a:r>
          </a:p>
          <a:p/>
          <a:p>
            <a:r>
              <a:t>Nur erfolgreiche Läufe zählen: Ein fehlgeschlagener Lauf (status='failed') rückt die Watermark nicht vor – der nächste Lauf wiederholt also denselben Delta-Bereich. Ebenso rücken ein Dry-Run (schreibt nichts, legt keinen Batch an) und ein Lauf mit fest vorgegebener --batch-id die Watermark nicht vor; im letzteren Fall besitzt das Modul den Batch nicht selbst, sondern markiert nur die geschriebenen Zeilen – das Vorrücken übernimmt dann der Aufrufer.</a:t>
            </a:r>
          </a:p>
          <a:p/>
          <a:p>
            <a:r>
              <a:t>Hintergrund, warum diese Stage-Watermark eingeführt wurde (optional erwähnen): Früher verglich man die Quelle direkt mit dem MAX(processing_updated_at) im Ziel. Das brach bei Kapiteln, die legitim KEINE Zielzeile erzeugen (z. B. ein Kapitel ohne überprüfbare Behauptungen beim Fact Checker): Ohne Zielzeile blieb der Vergleich immer NULL, und das Kapitel wurde bei jedem Delta-Lauf erneut verarbeitet. Die Stage-Watermark löst das, weil sie nicht davon abhängt, ob überhaupt etwas geschrieben wurde.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 Folie beantwortet die Frage: WANN läuft die Pipeline überhaupt? Bisher haben wir geklärt, WAS verarbeitet wird (Full/Delta + Watermark). Hier geht es um den Auslöser.</a:t>
            </a:r>
          </a:p>
          <a:p/>
          <a:p>
            <a:r>
              <a:t>Zwei Betriebsarten:</a:t>
            </a:r>
          </a:p>
          <a:p>
            <a:r>
              <a:t>- Standard (ohne --poll): Man startet den Runner, er macht GENAU EINEN Durchlauf über die gewählten Module und beendet sich danach. Typisch für manuelle Läufe oder einen externen Scheduler (z. B. Cron), der den Runner regelmäßig aufruft.</a:t>
            </a:r>
          </a:p>
          <a:p>
            <a:r>
              <a:t>- Poll-Modus (--poll): Der Runner bleibt als Dauerprozess laufen und entscheidet selbst, wann ein neuer Durchlauf nötig ist. So braucht es keinen externen Scheduler.</a:t>
            </a:r>
          </a:p>
          <a:p/>
          <a:p>
            <a:r>
              <a:t>Der Poll-Loop (linke Grafik), pro Tick:</a:t>
            </a:r>
          </a:p>
          <a:p>
            <a:r>
              <a:t>1. Prüfen: Gibt es neue vorverarbeitete Daten? (Funktion has_new_preprocessed_data)</a:t>
            </a:r>
          </a:p>
          <a:p>
            <a:r>
              <a:t>2. Ja → ein voller Durchlauf (run_pipeline). Schlägt er fehl, wird der Fehler geloggt und es geht weiter (der Dauerprozess stirbt nicht an einem einzelnen Fehllauf).</a:t>
            </a:r>
          </a:p>
          <a:p>
            <a:r>
              <a:t>3. Nein → nichts tun.</a:t>
            </a:r>
          </a:p>
          <a:p>
            <a:r>
              <a:t>4. Danach: poll_interval Sekunden schlafen (Default 60 s), dann wieder bei 1 beginnen.</a:t>
            </a:r>
          </a:p>
          <a:p/>
          <a:p>
            <a:r>
              <a:t>Die Trigger-Bedingung (rechte Box) nutzt dieselbe Watermark-Idee wie die Module, nur auf Batch-Ebene und über zwei Seiten:</a:t>
            </a:r>
          </a:p>
          <a:p>
            <a:r>
              <a:t>- Preprocessing-Seite: MAX(start_ts) aller 'segmenting'-Batches mit Status success ODER consumed.</a:t>
            </a:r>
          </a:p>
          <a:p>
            <a:r>
              <a:t>- Processing-Seite: MAX(start_ts) aller vier Modul-Batches (text_summarizer, fact_checker, embedder, emotion_scoring) mit Status success.</a:t>
            </a:r>
          </a:p>
          <a:p>
            <a:r>
              <a:t>Ein Lauf ist fällig, wenn die Preprocessing-Seite NEUER ist als die Processing-Seite — also seit dem letzten erfolgreichen Processing-Lauf etwas Neues vorverarbeitet wurde. Lief Processing noch nie erfolgreich (Processing-Seite ist leer), ist ein Lauf ebenfalls fällig.</a:t>
            </a:r>
          </a:p>
          <a:p/>
          <a:p>
            <a:r>
              <a:t>Warum nur 'segmenting' geprüft wird und nicht 'transcription': 'segmenting' (Sectioning) ist der einzige Schritt, der die Spalte preprocessing_updated_at auf den Quelltabellen schreibt — genau die Spalte, gegen die jedes Modul seine Delta-Auswahl filtert. Außerdem erreicht ein segmenting-Batch den Status 'success' erst, nachdem der zugehörige transcription-Batch bereits als 'consumed' markiert wurde. Ein erfolgreicher segmenting-Batch beweist also automatisch, dass die Transkription dahinter fertig ist — transcription separat zu prüfen wäre redundant und würde unnötige Läufe auslösen.</a:t>
            </a:r>
          </a:p>
          <a:p/>
          <a:p>
            <a:r>
              <a:t>Warum DB-Polling statt eines echten Event-Systems? Es braucht keinen zusätzlichen Message-Broker (wie Kafka/RabbitMQ) oder Datenbank-Listener. Der Mechanismus ist bewusst simpel: einmal pro Intervall eine einzige SQL-Abfrage. Das ist robust und leicht zu betreiben.</a:t>
            </a:r>
          </a:p>
          <a:p/>
          <a:p>
            <a:r>
              <a:t>Graceful Shutdown: Gewartet wird nicht mit time.sleep, sondern mit einem threading.Event (_shutdown_event.wait(interval)). Kommt ein SIGINT (Strg+C im Terminal) oder SIGTERM (was z. B. docker stop oder Kubernetes beim Beenden schickt), wird das Event gesetzt: ein gerade laufender Durchlauf wird NICHT mitten im DB-Write abgebrochen, sondern erst beendet, danach verlässt der Loop sauber. Drückt man Strg+C ein zweites Mal, wird ein sofortiger Abbruch erzwungen.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822960"/>
          </a:xfrm>
          <a:prstGeom prst="rect">
            <a:avLst/>
          </a:prstGeom>
          <a:noFill/>
        </p:spPr>
        <p:txBody>
          <a:bodyPr wrap="square">
            <a:spAutoFit/>
          </a:bodyPr>
          <a:lstStyle/>
          <a:p>
            <a:pPr>
              <a:defRPr sz="3000" b="1">
                <a:solidFill>
                  <a:srgbClr val="1F3B57"/>
                </a:solidFill>
              </a:defRPr>
            </a:pPr>
            <a:r>
              <a:t>Gesamtarchitektur – media-lens</a:t>
            </a:r>
          </a:p>
          <a:p>
            <a:pPr>
              <a:defRPr sz="1500">
                <a:solidFill>
                  <a:srgbClr val="5A5A5A"/>
                </a:solidFill>
              </a:defRPr>
            </a:pPr>
            <a:r>
              <a:t>Alle Module laufen auf dem HdM-Server · die KI-Modelle auf dem externen Spark-Server</a:t>
            </a:r>
          </a:p>
        </p:txBody>
      </p:sp>
      <p:sp>
        <p:nvSpPr>
          <p:cNvPr id="3" name="Rectangle 2"/>
          <p:cNvSpPr/>
          <p:nvPr/>
        </p:nvSpPr>
        <p:spPr>
          <a:xfrm>
            <a:off x="457200" y="1051560"/>
            <a:ext cx="2011680" cy="381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920240"/>
            <a:ext cx="11274552" cy="2240280"/>
          </a:xfrm>
          <a:prstGeom prst="roundRect">
            <a:avLst/>
          </a:prstGeom>
          <a:solidFill>
            <a:srgbClr val="F4F8FB"/>
          </a:solidFill>
          <a:ln w="25400">
            <a:solidFill>
              <a:srgbClr val="1F3B5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200" b="0">
                <a:solidFill>
                  <a:srgbClr val="1A1A1A"/>
                </a:solidFill>
              </a:defRPr>
            </a:pPr>
          </a:p>
        </p:txBody>
      </p:sp>
      <p:sp>
        <p:nvSpPr>
          <p:cNvPr id="5" name="TextBox 4"/>
          <p:cNvSpPr txBox="1"/>
          <p:nvPr/>
        </p:nvSpPr>
        <p:spPr>
          <a:xfrm>
            <a:off x="640080" y="1993392"/>
            <a:ext cx="5486400" cy="320040"/>
          </a:xfrm>
          <a:prstGeom prst="rect">
            <a:avLst/>
          </a:prstGeom>
          <a:noFill/>
        </p:spPr>
        <p:txBody>
          <a:bodyPr wrap="square">
            <a:spAutoFit/>
          </a:bodyPr>
          <a:lstStyle/>
          <a:p>
            <a:pPr algn="l">
              <a:defRPr sz="1300" b="1" i="0">
                <a:solidFill>
                  <a:srgbClr val="1F3B57"/>
                </a:solidFill>
              </a:defRPr>
            </a:pPr>
            <a:r>
              <a:t>HdM-Server  —  alle Module + Daten</a:t>
            </a:r>
          </a:p>
        </p:txBody>
      </p:sp>
      <p:sp>
        <p:nvSpPr>
          <p:cNvPr id="6" name="Rounded Rectangle 5"/>
          <p:cNvSpPr/>
          <p:nvPr/>
        </p:nvSpPr>
        <p:spPr>
          <a:xfrm>
            <a:off x="548640" y="960120"/>
            <a:ext cx="2011680" cy="640080"/>
          </a:xfrm>
          <a:prstGeom prst="roundRect">
            <a:avLst/>
          </a:prstGeom>
          <a:solidFill>
            <a:srgbClr val="FFFFFF"/>
          </a:solidFill>
          <a:ln w="15875">
            <a:solidFill>
              <a:srgbClr val="5A5A5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200" b="0">
                <a:solidFill>
                  <a:srgbClr val="1A1A1A"/>
                </a:solidFill>
              </a:defRPr>
            </a:pPr>
            <a:r>
              <a:t>Podcast</a:t>
            </a:r>
          </a:p>
          <a:p>
            <a:pPr algn="ctr">
              <a:defRPr sz="1100">
                <a:solidFill>
                  <a:srgbClr val="1A1A1A"/>
                </a:solidFill>
              </a:defRPr>
            </a:pPr>
            <a:r>
              <a:t>RSS / API</a:t>
            </a:r>
          </a:p>
        </p:txBody>
      </p:sp>
      <p:sp>
        <p:nvSpPr>
          <p:cNvPr id="7" name="Rounded Rectangle 6"/>
          <p:cNvSpPr/>
          <p:nvPr/>
        </p:nvSpPr>
        <p:spPr>
          <a:xfrm>
            <a:off x="800100" y="2697480"/>
            <a:ext cx="1371600" cy="1005840"/>
          </a:xfrm>
          <a:prstGeom prst="roundRect">
            <a:avLst/>
          </a:prstGeom>
          <a:solidFill>
            <a:srgbClr val="E8F1F8"/>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100" b="0">
                <a:solidFill>
                  <a:srgbClr val="1A1A1A"/>
                </a:solidFill>
              </a:defRPr>
            </a:pPr>
            <a:r>
              <a:t>Ingestion</a:t>
            </a:r>
          </a:p>
          <a:p>
            <a:pPr algn="ctr">
              <a:defRPr sz="1000">
                <a:solidFill>
                  <a:srgbClr val="1A1A1A"/>
                </a:solidFill>
              </a:defRPr>
            </a:pPr>
            <a:r>
              <a:t>(Go)</a:t>
            </a:r>
          </a:p>
        </p:txBody>
      </p:sp>
      <p:sp>
        <p:nvSpPr>
          <p:cNvPr id="8" name="Rounded Rectangle 7"/>
          <p:cNvSpPr/>
          <p:nvPr/>
        </p:nvSpPr>
        <p:spPr>
          <a:xfrm>
            <a:off x="2336291" y="2697480"/>
            <a:ext cx="1371600" cy="1005840"/>
          </a:xfrm>
          <a:prstGeom prst="roundRect">
            <a:avLst/>
          </a:prstGeom>
          <a:solidFill>
            <a:srgbClr val="DDE3E8"/>
          </a:solidFill>
          <a:ln w="15875">
            <a:solidFill>
              <a:srgbClr val="5A5A5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100" b="0">
                <a:solidFill>
                  <a:srgbClr val="1A1A1A"/>
                </a:solidFill>
              </a:defRPr>
            </a:pPr>
            <a:r>
              <a:t>MinIO</a:t>
            </a:r>
          </a:p>
          <a:p>
            <a:pPr algn="ctr">
              <a:defRPr sz="1000">
                <a:solidFill>
                  <a:srgbClr val="1A1A1A"/>
                </a:solidFill>
              </a:defRPr>
            </a:pPr>
            <a:r>
              <a:t>(Objekt-</a:t>
            </a:r>
          </a:p>
          <a:p>
            <a:pPr algn="ctr">
              <a:defRPr sz="1000">
                <a:solidFill>
                  <a:srgbClr val="1A1A1A"/>
                </a:solidFill>
              </a:defRPr>
            </a:pPr>
            <a:r>
              <a:t>speicher)</a:t>
            </a:r>
          </a:p>
        </p:txBody>
      </p:sp>
      <p:sp>
        <p:nvSpPr>
          <p:cNvPr id="9" name="Rounded Rectangle 8"/>
          <p:cNvSpPr/>
          <p:nvPr/>
        </p:nvSpPr>
        <p:spPr>
          <a:xfrm>
            <a:off x="3872483" y="2697480"/>
            <a:ext cx="1371600" cy="1005840"/>
          </a:xfrm>
          <a:prstGeom prst="roundRect">
            <a:avLst/>
          </a:prstGeom>
          <a:solidFill>
            <a:srgbClr val="E8F1F8"/>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100" b="0">
                <a:solidFill>
                  <a:srgbClr val="1A1A1A"/>
                </a:solidFill>
              </a:defRPr>
            </a:pPr>
            <a:r>
              <a:t>Preprocessing</a:t>
            </a:r>
          </a:p>
          <a:p>
            <a:pPr algn="ctr">
              <a:defRPr sz="1000">
                <a:solidFill>
                  <a:srgbClr val="1A1A1A"/>
                </a:solidFill>
              </a:defRPr>
            </a:pPr>
            <a:r>
              <a:t>(Transkription,</a:t>
            </a:r>
          </a:p>
          <a:p>
            <a:pPr algn="ctr">
              <a:defRPr sz="1000">
                <a:solidFill>
                  <a:srgbClr val="1A1A1A"/>
                </a:solidFill>
              </a:defRPr>
            </a:pPr>
            <a:r>
              <a:t>Kapitel)</a:t>
            </a:r>
          </a:p>
        </p:txBody>
      </p:sp>
      <p:sp>
        <p:nvSpPr>
          <p:cNvPr id="10" name="Rounded Rectangle 9"/>
          <p:cNvSpPr/>
          <p:nvPr/>
        </p:nvSpPr>
        <p:spPr>
          <a:xfrm>
            <a:off x="5408676" y="2697480"/>
            <a:ext cx="1371600" cy="1005840"/>
          </a:xfrm>
          <a:prstGeom prst="roundRect">
            <a:avLst/>
          </a:prstGeom>
          <a:solidFill>
            <a:srgbClr val="2E86AB"/>
          </a:solidFill>
          <a:ln w="15875">
            <a:solidFill>
              <a:srgbClr val="1F3B5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100" b="1">
                <a:solidFill>
                  <a:srgbClr val="FFFFFF"/>
                </a:solidFill>
              </a:defRPr>
            </a:pPr>
            <a:r>
              <a:t>Silver Enriched</a:t>
            </a:r>
          </a:p>
          <a:p>
            <a:pPr algn="ctr">
              <a:defRPr sz="1000">
                <a:solidFill>
                  <a:srgbClr val="FFFFFF"/>
                </a:solidFill>
              </a:defRPr>
            </a:pPr>
            <a:r>
              <a:t>(Anreicherung)</a:t>
            </a:r>
          </a:p>
        </p:txBody>
      </p:sp>
      <p:sp>
        <p:nvSpPr>
          <p:cNvPr id="11" name="Rounded Rectangle 10"/>
          <p:cNvSpPr/>
          <p:nvPr/>
        </p:nvSpPr>
        <p:spPr>
          <a:xfrm>
            <a:off x="6944868" y="2697480"/>
            <a:ext cx="1371600" cy="1005840"/>
          </a:xfrm>
          <a:prstGeom prst="roundRect">
            <a:avLst/>
          </a:prstGeom>
          <a:solidFill>
            <a:srgbClr val="DDE3E8"/>
          </a:solidFill>
          <a:ln w="15875">
            <a:solidFill>
              <a:srgbClr val="5A5A5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100" b="0">
                <a:solidFill>
                  <a:srgbClr val="1A1A1A"/>
                </a:solidFill>
              </a:defRPr>
            </a:pPr>
            <a:r>
              <a:t>PostgreSQL</a:t>
            </a:r>
          </a:p>
          <a:p>
            <a:pPr algn="ctr">
              <a:defRPr sz="1000">
                <a:solidFill>
                  <a:srgbClr val="1A1A1A"/>
                </a:solidFill>
              </a:defRPr>
            </a:pPr>
            <a:r>
              <a:t>(Daten +</a:t>
            </a:r>
          </a:p>
          <a:p>
            <a:pPr algn="ctr">
              <a:defRPr sz="1000">
                <a:solidFill>
                  <a:srgbClr val="1A1A1A"/>
                </a:solidFill>
              </a:defRPr>
            </a:pPr>
            <a:r>
              <a:t>Vektoren)</a:t>
            </a:r>
          </a:p>
        </p:txBody>
      </p:sp>
      <p:sp>
        <p:nvSpPr>
          <p:cNvPr id="12" name="Rounded Rectangle 11"/>
          <p:cNvSpPr/>
          <p:nvPr/>
        </p:nvSpPr>
        <p:spPr>
          <a:xfrm>
            <a:off x="8481060" y="2697480"/>
            <a:ext cx="1371600" cy="1005840"/>
          </a:xfrm>
          <a:prstGeom prst="roundRect">
            <a:avLst/>
          </a:prstGeom>
          <a:solidFill>
            <a:srgbClr val="E8F1F8"/>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100" b="0">
                <a:solidFill>
                  <a:srgbClr val="1A1A1A"/>
                </a:solidFill>
              </a:defRPr>
            </a:pPr>
            <a:r>
              <a:t>Backend</a:t>
            </a:r>
          </a:p>
          <a:p>
            <a:pPr algn="ctr">
              <a:defRPr sz="1000">
                <a:solidFill>
                  <a:srgbClr val="1A1A1A"/>
                </a:solidFill>
              </a:defRPr>
            </a:pPr>
            <a:r>
              <a:t>(API)</a:t>
            </a:r>
          </a:p>
        </p:txBody>
      </p:sp>
      <p:sp>
        <p:nvSpPr>
          <p:cNvPr id="13" name="Rounded Rectangle 12"/>
          <p:cNvSpPr/>
          <p:nvPr/>
        </p:nvSpPr>
        <p:spPr>
          <a:xfrm>
            <a:off x="10017252" y="2697480"/>
            <a:ext cx="1371600" cy="1005840"/>
          </a:xfrm>
          <a:prstGeom prst="roundRect">
            <a:avLst/>
          </a:prstGeom>
          <a:solidFill>
            <a:srgbClr val="E8F1F8"/>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100" b="0">
                <a:solidFill>
                  <a:srgbClr val="1A1A1A"/>
                </a:solidFill>
              </a:defRPr>
            </a:pPr>
            <a:r>
              <a:t>Frontend</a:t>
            </a:r>
          </a:p>
          <a:p>
            <a:pPr algn="ctr">
              <a:defRPr sz="1000">
                <a:solidFill>
                  <a:srgbClr val="1A1A1A"/>
                </a:solidFill>
              </a:defRPr>
            </a:pPr>
            <a:r>
              <a:t>(Web-UI)</a:t>
            </a:r>
          </a:p>
        </p:txBody>
      </p:sp>
      <p:cxnSp>
        <p:nvCxnSpPr>
          <p:cNvPr id="14" name="Connector 13"/>
          <p:cNvCxnSpPr/>
          <p:nvPr/>
        </p:nvCxnSpPr>
        <p:spPr>
          <a:xfrm>
            <a:off x="2171700" y="3200400"/>
            <a:ext cx="164591" cy="0"/>
          </a:xfrm>
          <a:prstGeom prst="line">
            <a:avLst/>
          </a:prstGeom>
          <a:ln w="19050">
            <a:solidFill>
              <a:srgbClr val="1F3B5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3707891" y="3200400"/>
            <a:ext cx="164592" cy="0"/>
          </a:xfrm>
          <a:prstGeom prst="line">
            <a:avLst/>
          </a:prstGeom>
          <a:ln w="19050">
            <a:solidFill>
              <a:srgbClr val="1F3B5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244083" y="3200400"/>
            <a:ext cx="164593" cy="0"/>
          </a:xfrm>
          <a:prstGeom prst="line">
            <a:avLst/>
          </a:prstGeom>
          <a:ln w="19050">
            <a:solidFill>
              <a:srgbClr val="1F3B5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780276" y="3200400"/>
            <a:ext cx="164592" cy="0"/>
          </a:xfrm>
          <a:prstGeom prst="line">
            <a:avLst/>
          </a:prstGeom>
          <a:ln w="19050">
            <a:solidFill>
              <a:srgbClr val="1F3B5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316467" y="3200400"/>
            <a:ext cx="164593" cy="0"/>
          </a:xfrm>
          <a:prstGeom prst="line">
            <a:avLst/>
          </a:prstGeom>
          <a:ln w="19050">
            <a:solidFill>
              <a:srgbClr val="1F3B5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9852660" y="3200400"/>
            <a:ext cx="164592" cy="0"/>
          </a:xfrm>
          <a:prstGeom prst="line">
            <a:avLst/>
          </a:prstGeom>
          <a:ln w="19050">
            <a:solidFill>
              <a:srgbClr val="1F3B5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1485900" y="1600200"/>
            <a:ext cx="68580" cy="1097280"/>
          </a:xfrm>
          <a:prstGeom prst="line">
            <a:avLst/>
          </a:prstGeom>
          <a:ln w="19050">
            <a:solidFill>
              <a:srgbClr val="5A5A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3017520" y="4892040"/>
            <a:ext cx="4572000" cy="914400"/>
          </a:xfrm>
          <a:prstGeom prst="roundRect">
            <a:avLst/>
          </a:prstGeom>
          <a:solidFill>
            <a:srgbClr val="F29B5B"/>
          </a:solidFill>
          <a:ln w="15875">
            <a:solidFill>
              <a:srgbClr val="C97A3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200" b="1">
                <a:solidFill>
                  <a:srgbClr val="1A1A1A"/>
                </a:solidFill>
              </a:defRPr>
            </a:pPr>
            <a:r>
              <a:t>Spark-Server (extern)</a:t>
            </a:r>
          </a:p>
          <a:p>
            <a:pPr algn="ctr">
              <a:defRPr sz="1100">
                <a:solidFill>
                  <a:srgbClr val="1A1A1A"/>
                </a:solidFill>
              </a:defRPr>
            </a:pPr>
            <a:r>
              <a:t>Whisper · wav2vec2  —  aufgerufen per HTTP-Request, vernetzt über Tailscale</a:t>
            </a:r>
          </a:p>
        </p:txBody>
      </p:sp>
      <p:cxnSp>
        <p:nvCxnSpPr>
          <p:cNvPr id="22" name="Connector 21"/>
          <p:cNvCxnSpPr/>
          <p:nvPr/>
        </p:nvCxnSpPr>
        <p:spPr>
          <a:xfrm flipV="1">
            <a:off x="4558283" y="3703320"/>
            <a:ext cx="0" cy="1188720"/>
          </a:xfrm>
          <a:prstGeom prst="line">
            <a:avLst/>
          </a:prstGeom>
          <a:ln w="19050">
            <a:solidFill>
              <a:srgbClr val="C97A3E"/>
            </a:solidFill>
            <a:tailEnd type="triangle" w="med" len="med"/>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6094476" y="3703320"/>
            <a:ext cx="0" cy="1188720"/>
          </a:xfrm>
          <a:prstGeom prst="line">
            <a:avLst/>
          </a:prstGeom>
          <a:ln w="19050">
            <a:solidFill>
              <a:srgbClr val="C97A3E"/>
            </a:solidFill>
            <a:tailEnd type="triangle" w="med" len="med"/>
            <a:prstDash val="dash"/>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185916" y="4297680"/>
            <a:ext cx="2743200" cy="274320"/>
          </a:xfrm>
          <a:prstGeom prst="rect">
            <a:avLst/>
          </a:prstGeom>
          <a:noFill/>
        </p:spPr>
        <p:txBody>
          <a:bodyPr wrap="square">
            <a:spAutoFit/>
          </a:bodyPr>
          <a:lstStyle/>
          <a:p>
            <a:pPr algn="l">
              <a:defRPr sz="1000" b="0" i="1">
                <a:solidFill>
                  <a:srgbClr val="C97A3E"/>
                </a:solidFill>
              </a:defRPr>
            </a:pPr>
            <a:r>
              <a:t>HTTP · Tailscale</a:t>
            </a:r>
          </a:p>
        </p:txBody>
      </p:sp>
      <p:sp>
        <p:nvSpPr>
          <p:cNvPr id="25" name="TextBox 24"/>
          <p:cNvSpPr txBox="1"/>
          <p:nvPr/>
        </p:nvSpPr>
        <p:spPr>
          <a:xfrm>
            <a:off x="457200" y="5894697888000"/>
            <a:ext cx="10311958548000" cy="292644576000"/>
          </a:xfrm>
          <a:prstGeom prst="rect">
            <a:avLst/>
          </a:prstGeom>
          <a:noFill/>
        </p:spPr>
        <p:txBody>
          <a:bodyPr wrap="square">
            <a:spAutoFit/>
          </a:bodyPr>
          <a:lstStyle/>
          <a:p>
            <a:pPr algn="l">
              <a:defRPr sz="1000" b="0" i="1">
                <a:solidFill>
                  <a:srgbClr val="5A5A5A"/>
                </a:solidFill>
              </a:defRPr>
            </a:pPr>
            <a:r>
              <a:t>media-lens – Gesamtarchitektur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822960"/>
          </a:xfrm>
          <a:prstGeom prst="rect">
            <a:avLst/>
          </a:prstGeom>
          <a:noFill/>
        </p:spPr>
        <p:txBody>
          <a:bodyPr wrap="square">
            <a:spAutoFit/>
          </a:bodyPr>
          <a:lstStyle/>
          <a:p>
            <a:pPr>
              <a:defRPr sz="3000" b="1">
                <a:solidFill>
                  <a:srgbClr val="1F3B57"/>
                </a:solidFill>
              </a:defRPr>
            </a:pPr>
            <a:r>
              <a:t>Deployment &amp; Betrieb</a:t>
            </a:r>
          </a:p>
          <a:p>
            <a:pPr>
              <a:defRPr sz="1500">
                <a:solidFill>
                  <a:srgbClr val="5A5A5A"/>
                </a:solidFill>
              </a:defRPr>
            </a:pPr>
            <a:r>
              <a:t>Ein HdM-Server für alle Module · ein externer Spark-Server für die KI-Modelle</a:t>
            </a:r>
          </a:p>
        </p:txBody>
      </p:sp>
      <p:sp>
        <p:nvSpPr>
          <p:cNvPr id="3" name="Rectangle 2"/>
          <p:cNvSpPr/>
          <p:nvPr/>
        </p:nvSpPr>
        <p:spPr>
          <a:xfrm>
            <a:off x="457200" y="1051560"/>
            <a:ext cx="2011680" cy="381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40080" y="1600200"/>
            <a:ext cx="5669280" cy="4206240"/>
          </a:xfrm>
          <a:prstGeom prst="roundRect">
            <a:avLst/>
          </a:prstGeom>
          <a:solidFill>
            <a:srgbClr val="F4F8FB"/>
          </a:solidFill>
          <a:ln w="25400">
            <a:solidFill>
              <a:srgbClr val="1F3B5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200" b="0">
                <a:solidFill>
                  <a:srgbClr val="1A1A1A"/>
                </a:solidFill>
              </a:defRPr>
            </a:pPr>
          </a:p>
        </p:txBody>
      </p:sp>
      <p:sp>
        <p:nvSpPr>
          <p:cNvPr id="5" name="Rounded Rectangle 4"/>
          <p:cNvSpPr/>
          <p:nvPr/>
        </p:nvSpPr>
        <p:spPr>
          <a:xfrm>
            <a:off x="640080" y="1600200"/>
            <a:ext cx="5669280" cy="594360"/>
          </a:xfrm>
          <a:prstGeom prst="roundRect">
            <a:avLst/>
          </a:prstGeom>
          <a:solidFill>
            <a:srgbClr val="1F3B57"/>
          </a:solidFill>
          <a:ln w="15875">
            <a:solidFill>
              <a:srgbClr val="1F3B5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800" b="1">
                <a:solidFill>
                  <a:srgbClr val="FFFFFF"/>
                </a:solidFill>
              </a:defRPr>
            </a:pPr>
            <a:r>
              <a:t>HdM-Server</a:t>
            </a:r>
          </a:p>
        </p:txBody>
      </p:sp>
      <p:sp>
        <p:nvSpPr>
          <p:cNvPr id="6" name="TextBox 5"/>
          <p:cNvSpPr txBox="1"/>
          <p:nvPr/>
        </p:nvSpPr>
        <p:spPr>
          <a:xfrm>
            <a:off x="1051560" y="2468880"/>
            <a:ext cx="4937760" cy="3108960"/>
          </a:xfrm>
          <a:prstGeom prst="rect">
            <a:avLst/>
          </a:prstGeom>
          <a:noFill/>
        </p:spPr>
        <p:txBody>
          <a:bodyPr wrap="square">
            <a:spAutoFit/>
          </a:bodyPr>
          <a:lstStyle/>
          <a:p>
            <a:pPr>
              <a:spcAft>
                <a:spcPts val="800"/>
              </a:spcAft>
              <a:defRPr sz="1500">
                <a:solidFill>
                  <a:srgbClr val="1A1A1A"/>
                </a:solidFill>
              </a:defRPr>
            </a:pPr>
            <a:r>
              <a:t>•  Ingestion  (Go)</a:t>
            </a:r>
          </a:p>
          <a:p>
            <a:pPr>
              <a:spcAft>
                <a:spcPts val="800"/>
              </a:spcAft>
              <a:defRPr sz="1500">
                <a:solidFill>
                  <a:srgbClr val="1A1A1A"/>
                </a:solidFill>
              </a:defRPr>
            </a:pPr>
            <a:r>
              <a:t>•  Preprocessing  (Transkription · Kapitel)</a:t>
            </a:r>
          </a:p>
          <a:p>
            <a:pPr>
              <a:spcAft>
                <a:spcPts val="800"/>
              </a:spcAft>
              <a:defRPr sz="1500">
                <a:solidFill>
                  <a:srgbClr val="1A1A1A"/>
                </a:solidFill>
              </a:defRPr>
            </a:pPr>
            <a:r>
              <a:t>•  Silver Enriched / Processing  (Anreicherung)</a:t>
            </a:r>
          </a:p>
          <a:p>
            <a:pPr>
              <a:spcAft>
                <a:spcPts val="800"/>
              </a:spcAft>
              <a:defRPr sz="1500">
                <a:solidFill>
                  <a:srgbClr val="1A1A1A"/>
                </a:solidFill>
              </a:defRPr>
            </a:pPr>
            <a:r>
              <a:t>•  Backend  (API)</a:t>
            </a:r>
          </a:p>
          <a:p>
            <a:pPr>
              <a:spcAft>
                <a:spcPts val="800"/>
              </a:spcAft>
              <a:defRPr sz="1500">
                <a:solidFill>
                  <a:srgbClr val="1A1A1A"/>
                </a:solidFill>
              </a:defRPr>
            </a:pPr>
            <a:r>
              <a:t>•  Frontend  (Web-UI)</a:t>
            </a:r>
          </a:p>
          <a:p>
            <a:pPr>
              <a:spcAft>
                <a:spcPts val="800"/>
              </a:spcAft>
              <a:defRPr sz="1500">
                <a:solidFill>
                  <a:srgbClr val="1A1A1A"/>
                </a:solidFill>
              </a:defRPr>
            </a:pPr>
            <a:r>
              <a:t>•  PostgreSQL  (Datenbank inkl. Vektoren)</a:t>
            </a:r>
          </a:p>
          <a:p>
            <a:pPr>
              <a:spcAft>
                <a:spcPts val="800"/>
              </a:spcAft>
              <a:defRPr sz="1500">
                <a:solidFill>
                  <a:srgbClr val="1A1A1A"/>
                </a:solidFill>
              </a:defRPr>
            </a:pPr>
            <a:r>
              <a:t>•  MinIO  (Objektspeicher)</a:t>
            </a:r>
          </a:p>
        </p:txBody>
      </p:sp>
      <p:sp>
        <p:nvSpPr>
          <p:cNvPr id="7" name="Rounded Rectangle 6"/>
          <p:cNvSpPr/>
          <p:nvPr/>
        </p:nvSpPr>
        <p:spPr>
          <a:xfrm>
            <a:off x="7589520" y="2057400"/>
            <a:ext cx="3931920" cy="3291840"/>
          </a:xfrm>
          <a:prstGeom prst="roundRect">
            <a:avLst/>
          </a:prstGeom>
          <a:solidFill>
            <a:srgbClr val="FDF1E2"/>
          </a:solidFill>
          <a:ln w="25400">
            <a:solidFill>
              <a:srgbClr val="C97A3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200" b="0">
                <a:solidFill>
                  <a:srgbClr val="1A1A1A"/>
                </a:solidFill>
              </a:defRPr>
            </a:pPr>
          </a:p>
        </p:txBody>
      </p:sp>
      <p:sp>
        <p:nvSpPr>
          <p:cNvPr id="8" name="Rounded Rectangle 7"/>
          <p:cNvSpPr/>
          <p:nvPr/>
        </p:nvSpPr>
        <p:spPr>
          <a:xfrm>
            <a:off x="7589520" y="2057400"/>
            <a:ext cx="3931920" cy="594360"/>
          </a:xfrm>
          <a:prstGeom prst="roundRect">
            <a:avLst/>
          </a:prstGeom>
          <a:solidFill>
            <a:srgbClr val="F29B5B"/>
          </a:solidFill>
          <a:ln w="15875">
            <a:solidFill>
              <a:srgbClr val="C97A3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600" b="1">
                <a:solidFill>
                  <a:srgbClr val="1A1A1A"/>
                </a:solidFill>
              </a:defRPr>
            </a:pPr>
            <a:r>
              <a:t>Spark-Server (extern)</a:t>
            </a:r>
          </a:p>
        </p:txBody>
      </p:sp>
      <p:sp>
        <p:nvSpPr>
          <p:cNvPr id="9" name="TextBox 8"/>
          <p:cNvSpPr txBox="1"/>
          <p:nvPr/>
        </p:nvSpPr>
        <p:spPr>
          <a:xfrm>
            <a:off x="7955280" y="2971800"/>
            <a:ext cx="3291839" cy="2194560"/>
          </a:xfrm>
          <a:prstGeom prst="rect">
            <a:avLst/>
          </a:prstGeom>
          <a:noFill/>
        </p:spPr>
        <p:txBody>
          <a:bodyPr wrap="square">
            <a:spAutoFit/>
          </a:bodyPr>
          <a:lstStyle/>
          <a:p>
            <a:pPr>
              <a:spcAft>
                <a:spcPts val="800"/>
              </a:spcAft>
              <a:defRPr sz="1500">
                <a:solidFill>
                  <a:srgbClr val="1A1A1A"/>
                </a:solidFill>
              </a:defRPr>
            </a:pPr>
            <a:r>
              <a:t>•  Whisper</a:t>
            </a:r>
            <a:br/>
            <a:r>
              <a:t>   → Transkription (Audio → Text)</a:t>
            </a:r>
          </a:p>
          <a:p>
            <a:pPr>
              <a:spcAft>
                <a:spcPts val="800"/>
              </a:spcAft>
              <a:defRPr sz="1500">
                <a:solidFill>
                  <a:srgbClr val="1A1A1A"/>
                </a:solidFill>
              </a:defRPr>
            </a:pPr>
            <a:r>
              <a:t>•  wav2vec2</a:t>
            </a:r>
            <a:br/>
            <a:r>
              <a:t>   → Emotionserkennung</a:t>
            </a:r>
          </a:p>
        </p:txBody>
      </p:sp>
      <p:sp>
        <p:nvSpPr>
          <p:cNvPr id="10" name="TextBox 9"/>
          <p:cNvSpPr txBox="1"/>
          <p:nvPr/>
        </p:nvSpPr>
        <p:spPr>
          <a:xfrm>
            <a:off x="7863840" y="4663440"/>
            <a:ext cx="3383279" cy="548640"/>
          </a:xfrm>
          <a:prstGeom prst="rect">
            <a:avLst/>
          </a:prstGeom>
          <a:noFill/>
        </p:spPr>
        <p:txBody>
          <a:bodyPr wrap="square">
            <a:spAutoFit/>
          </a:bodyPr>
          <a:lstStyle/>
          <a:p>
            <a:pPr algn="ctr">
              <a:defRPr sz="1200" b="0" i="1">
                <a:solidFill>
                  <a:srgbClr val="5A5A5A"/>
                </a:solidFill>
              </a:defRPr>
            </a:pPr>
            <a:r>
              <a:t>rechenintensive KI-Modelle (GPU)</a:t>
            </a:r>
          </a:p>
        </p:txBody>
      </p:sp>
      <p:cxnSp>
        <p:nvCxnSpPr>
          <p:cNvPr id="11" name="Connector 10"/>
          <p:cNvCxnSpPr/>
          <p:nvPr/>
        </p:nvCxnSpPr>
        <p:spPr>
          <a:xfrm>
            <a:off x="6309360" y="3566160"/>
            <a:ext cx="1280160" cy="0"/>
          </a:xfrm>
          <a:prstGeom prst="line">
            <a:avLst/>
          </a:prstGeom>
          <a:ln w="31750">
            <a:solidFill>
              <a:srgbClr val="C97A3E"/>
            </a:solidFill>
            <a:tailEnd type="triangle" w="med" len="med"/>
            <a:head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217920" y="2926080"/>
            <a:ext cx="1463040" cy="320040"/>
          </a:xfrm>
          <a:prstGeom prst="rect">
            <a:avLst/>
          </a:prstGeom>
          <a:noFill/>
        </p:spPr>
        <p:txBody>
          <a:bodyPr wrap="square">
            <a:spAutoFit/>
          </a:bodyPr>
          <a:lstStyle/>
          <a:p>
            <a:pPr algn="ctr">
              <a:defRPr sz="1200" b="1" i="0">
                <a:solidFill>
                  <a:srgbClr val="1F3B57"/>
                </a:solidFill>
              </a:defRPr>
            </a:pPr>
            <a:r>
              <a:t>HTTP-Requests</a:t>
            </a:r>
          </a:p>
        </p:txBody>
      </p:sp>
      <p:sp>
        <p:nvSpPr>
          <p:cNvPr id="13" name="TextBox 12"/>
          <p:cNvSpPr txBox="1"/>
          <p:nvPr/>
        </p:nvSpPr>
        <p:spPr>
          <a:xfrm>
            <a:off x="6217920" y="3703320"/>
            <a:ext cx="1463040" cy="320040"/>
          </a:xfrm>
          <a:prstGeom prst="rect">
            <a:avLst/>
          </a:prstGeom>
          <a:noFill/>
        </p:spPr>
        <p:txBody>
          <a:bodyPr wrap="square">
            <a:spAutoFit/>
          </a:bodyPr>
          <a:lstStyle/>
          <a:p>
            <a:pPr algn="ctr">
              <a:defRPr sz="1100" b="0" i="1">
                <a:solidFill>
                  <a:srgbClr val="5A5A5A"/>
                </a:solidFill>
              </a:defRPr>
            </a:pPr>
            <a:r>
              <a:t>über Tailscale vernetzt</a:t>
            </a:r>
          </a:p>
        </p:txBody>
      </p:sp>
      <p:sp>
        <p:nvSpPr>
          <p:cNvPr id="14" name="TextBox 13"/>
          <p:cNvSpPr txBox="1"/>
          <p:nvPr/>
        </p:nvSpPr>
        <p:spPr>
          <a:xfrm>
            <a:off x="640080" y="5989320"/>
            <a:ext cx="10972800" cy="457200"/>
          </a:xfrm>
          <a:prstGeom prst="rect">
            <a:avLst/>
          </a:prstGeom>
          <a:noFill/>
        </p:spPr>
        <p:txBody>
          <a:bodyPr wrap="square">
            <a:spAutoFit/>
          </a:bodyPr>
          <a:lstStyle/>
          <a:p>
            <a:pPr algn="l">
              <a:defRPr sz="1300" b="0" i="1">
                <a:solidFill>
                  <a:srgbClr val="5A5A5A"/>
                </a:solidFill>
              </a:defRPr>
            </a:pPr>
            <a:r>
              <a:t>Modelle bewusst ausgelagert: der HdM-Server bleibt schlank und braucht selbst keine GPU.</a:t>
            </a:r>
          </a:p>
        </p:txBody>
      </p:sp>
      <p:sp>
        <p:nvSpPr>
          <p:cNvPr id="15" name="TextBox 14"/>
          <p:cNvSpPr txBox="1"/>
          <p:nvPr/>
        </p:nvSpPr>
        <p:spPr>
          <a:xfrm>
            <a:off x="457200" y="5894697888000"/>
            <a:ext cx="10311958548000" cy="292644576000"/>
          </a:xfrm>
          <a:prstGeom prst="rect">
            <a:avLst/>
          </a:prstGeom>
          <a:noFill/>
        </p:spPr>
        <p:txBody>
          <a:bodyPr wrap="square">
            <a:spAutoFit/>
          </a:bodyPr>
          <a:lstStyle/>
          <a:p>
            <a:pPr algn="l">
              <a:defRPr sz="1000" b="0" i="1">
                <a:solidFill>
                  <a:srgbClr val="5A5A5A"/>
                </a:solidFill>
              </a:defRPr>
            </a:pPr>
            <a:r>
              <a:t>media-lens – Deployment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822960"/>
          </a:xfrm>
          <a:prstGeom prst="rect">
            <a:avLst/>
          </a:prstGeom>
          <a:noFill/>
        </p:spPr>
        <p:txBody>
          <a:bodyPr wrap="square">
            <a:spAutoFit/>
          </a:bodyPr>
          <a:lstStyle/>
          <a:p>
            <a:pPr>
              <a:defRPr sz="3000" b="1">
                <a:solidFill>
                  <a:srgbClr val="1F3B57"/>
                </a:solidFill>
              </a:defRPr>
            </a:pPr>
            <a:r>
              <a:t>Silver Enriched – Einordnung</a:t>
            </a:r>
          </a:p>
          <a:p>
            <a:pPr>
              <a:defRPr sz="1500">
                <a:solidFill>
                  <a:srgbClr val="5A5A5A"/>
                </a:solidFill>
              </a:defRPr>
            </a:pPr>
            <a:r>
              <a:t>Der Anreicherungsschritt der Pipeline und seine vier Module</a:t>
            </a:r>
          </a:p>
        </p:txBody>
      </p:sp>
      <p:sp>
        <p:nvSpPr>
          <p:cNvPr id="3" name="Rectangle 2"/>
          <p:cNvSpPr/>
          <p:nvPr/>
        </p:nvSpPr>
        <p:spPr>
          <a:xfrm>
            <a:off x="457200" y="1051560"/>
            <a:ext cx="2011680" cy="381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295247" y="1645920"/>
            <a:ext cx="1737360" cy="822960"/>
          </a:xfrm>
          <a:prstGeom prst="roundRect">
            <a:avLst/>
          </a:prstGeom>
          <a:solidFill>
            <a:srgbClr val="E8F1F8"/>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200" b="0">
                <a:solidFill>
                  <a:srgbClr val="1A1A1A"/>
                </a:solidFill>
              </a:defRPr>
            </a:pPr>
            <a:r>
              <a:t>Ingestion</a:t>
            </a:r>
          </a:p>
        </p:txBody>
      </p:sp>
      <p:sp>
        <p:nvSpPr>
          <p:cNvPr id="5" name="Rounded Rectangle 4"/>
          <p:cNvSpPr/>
          <p:nvPr/>
        </p:nvSpPr>
        <p:spPr>
          <a:xfrm>
            <a:off x="3261207" y="1645920"/>
            <a:ext cx="1737360" cy="822960"/>
          </a:xfrm>
          <a:prstGeom prst="roundRect">
            <a:avLst/>
          </a:prstGeom>
          <a:solidFill>
            <a:srgbClr val="E8F1F8"/>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200" b="0">
                <a:solidFill>
                  <a:srgbClr val="1A1A1A"/>
                </a:solidFill>
              </a:defRPr>
            </a:pPr>
            <a:r>
              <a:t>Transcription</a:t>
            </a:r>
          </a:p>
          <a:p>
            <a:pPr algn="ctr">
              <a:defRPr sz="1100">
                <a:solidFill>
                  <a:srgbClr val="1A1A1A"/>
                </a:solidFill>
              </a:defRPr>
            </a:pPr>
            <a:r>
              <a:t>(Audio → Text)</a:t>
            </a:r>
          </a:p>
        </p:txBody>
      </p:sp>
      <p:sp>
        <p:nvSpPr>
          <p:cNvPr id="6" name="Rounded Rectangle 5"/>
          <p:cNvSpPr/>
          <p:nvPr/>
        </p:nvSpPr>
        <p:spPr>
          <a:xfrm>
            <a:off x="5227167" y="1645920"/>
            <a:ext cx="1737360" cy="822960"/>
          </a:xfrm>
          <a:prstGeom prst="roundRect">
            <a:avLst/>
          </a:prstGeom>
          <a:solidFill>
            <a:srgbClr val="E8F1F8"/>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200" b="0">
                <a:solidFill>
                  <a:srgbClr val="1A1A1A"/>
                </a:solidFill>
              </a:defRPr>
            </a:pPr>
            <a:r>
              <a:t>Sectioning</a:t>
            </a:r>
          </a:p>
          <a:p>
            <a:pPr algn="ctr">
              <a:defRPr sz="1100">
                <a:solidFill>
                  <a:srgbClr val="1A1A1A"/>
                </a:solidFill>
              </a:defRPr>
            </a:pPr>
            <a:r>
              <a:t>(Text → Kapitel)</a:t>
            </a:r>
          </a:p>
        </p:txBody>
      </p:sp>
      <p:sp>
        <p:nvSpPr>
          <p:cNvPr id="7" name="Rounded Rectangle 6"/>
          <p:cNvSpPr/>
          <p:nvPr/>
        </p:nvSpPr>
        <p:spPr>
          <a:xfrm>
            <a:off x="7193127" y="1645920"/>
            <a:ext cx="1737360" cy="822960"/>
          </a:xfrm>
          <a:prstGeom prst="roundRect">
            <a:avLst/>
          </a:prstGeom>
          <a:solidFill>
            <a:srgbClr val="2E86AB"/>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200" b="1">
                <a:solidFill>
                  <a:srgbClr val="FFFFFF"/>
                </a:solidFill>
              </a:defRPr>
            </a:pPr>
            <a:r>
              <a:t>Silver Enriched</a:t>
            </a:r>
          </a:p>
          <a:p>
            <a:pPr algn="ctr">
              <a:defRPr sz="1100">
                <a:solidFill>
                  <a:srgbClr val="FFFFFF"/>
                </a:solidFill>
              </a:defRPr>
            </a:pPr>
            <a:r>
              <a:t>(Anreicherung)</a:t>
            </a:r>
          </a:p>
        </p:txBody>
      </p:sp>
      <p:sp>
        <p:nvSpPr>
          <p:cNvPr id="8" name="Rounded Rectangle 7"/>
          <p:cNvSpPr/>
          <p:nvPr/>
        </p:nvSpPr>
        <p:spPr>
          <a:xfrm>
            <a:off x="9159087" y="1645920"/>
            <a:ext cx="1737360" cy="822960"/>
          </a:xfrm>
          <a:prstGeom prst="roundRect">
            <a:avLst/>
          </a:prstGeom>
          <a:solidFill>
            <a:srgbClr val="E8F1F8"/>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200" b="0">
                <a:solidFill>
                  <a:srgbClr val="1A1A1A"/>
                </a:solidFill>
              </a:defRPr>
            </a:pPr>
            <a:r>
              <a:t>Datenbank</a:t>
            </a:r>
          </a:p>
        </p:txBody>
      </p:sp>
      <p:cxnSp>
        <p:nvCxnSpPr>
          <p:cNvPr id="9" name="Connector 8"/>
          <p:cNvCxnSpPr/>
          <p:nvPr/>
        </p:nvCxnSpPr>
        <p:spPr>
          <a:xfrm>
            <a:off x="3032607" y="2057400"/>
            <a:ext cx="228600" cy="0"/>
          </a:xfrm>
          <a:prstGeom prst="line">
            <a:avLst/>
          </a:prstGeom>
          <a:ln w="19050">
            <a:solidFill>
              <a:srgbClr val="1F3B5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8567" y="2057400"/>
            <a:ext cx="228600" cy="0"/>
          </a:xfrm>
          <a:prstGeom prst="line">
            <a:avLst/>
          </a:prstGeom>
          <a:ln w="19050">
            <a:solidFill>
              <a:srgbClr val="1F3B5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964527" y="2057400"/>
            <a:ext cx="228600" cy="0"/>
          </a:xfrm>
          <a:prstGeom prst="line">
            <a:avLst/>
          </a:prstGeom>
          <a:ln w="19050">
            <a:solidFill>
              <a:srgbClr val="1F3B5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930487" y="2057400"/>
            <a:ext cx="228600" cy="0"/>
          </a:xfrm>
          <a:prstGeom prst="line">
            <a:avLst/>
          </a:prstGeom>
          <a:ln w="19050">
            <a:solidFill>
              <a:srgbClr val="1F3B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295247" y="2560320"/>
            <a:ext cx="9601200" cy="274320"/>
          </a:xfrm>
          <a:prstGeom prst="rect">
            <a:avLst/>
          </a:prstGeom>
          <a:noFill/>
        </p:spPr>
        <p:txBody>
          <a:bodyPr wrap="square">
            <a:spAutoFit/>
          </a:bodyPr>
          <a:lstStyle/>
          <a:p>
            <a:pPr algn="ctr">
              <a:defRPr sz="1100" b="0" i="1">
                <a:solidFill>
                  <a:srgbClr val="5A5A5A"/>
                </a:solidFill>
              </a:defRPr>
            </a:pPr>
            <a:r>
              <a:t>("Silver"-Rohdaten werden zu "Enriched"-Inhalten)</a:t>
            </a:r>
          </a:p>
        </p:txBody>
      </p:sp>
      <p:sp>
        <p:nvSpPr>
          <p:cNvPr id="14" name="Rounded Rectangle 13"/>
          <p:cNvSpPr/>
          <p:nvPr/>
        </p:nvSpPr>
        <p:spPr>
          <a:xfrm>
            <a:off x="746607" y="3108960"/>
            <a:ext cx="2468880" cy="1371600"/>
          </a:xfrm>
          <a:prstGeom prst="roundRect">
            <a:avLst/>
          </a:prstGeom>
          <a:solidFill>
            <a:srgbClr val="E8F1F8"/>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300" b="0">
                <a:solidFill>
                  <a:srgbClr val="1A1A1A"/>
                </a:solidFill>
              </a:defRPr>
            </a:pPr>
            <a:r>
              <a:t>Text Summarizer</a:t>
            </a:r>
          </a:p>
          <a:p>
            <a:pPr algn="ctr">
              <a:defRPr sz="1200">
                <a:solidFill>
                  <a:srgbClr val="1A1A1A"/>
                </a:solidFill>
              </a:defRPr>
            </a:pPr>
            <a:r>
              <a:t>Zusammenfassungen</a:t>
            </a:r>
          </a:p>
          <a:p>
            <a:pPr algn="ctr">
              <a:defRPr sz="1200">
                <a:solidFill>
                  <a:srgbClr val="1A1A1A"/>
                </a:solidFill>
              </a:defRPr>
            </a:pPr>
            <a:r>
              <a:t>je Kapitel &amp; Episode</a:t>
            </a:r>
          </a:p>
        </p:txBody>
      </p:sp>
      <p:sp>
        <p:nvSpPr>
          <p:cNvPr id="15" name="Rounded Rectangle 14"/>
          <p:cNvSpPr/>
          <p:nvPr/>
        </p:nvSpPr>
        <p:spPr>
          <a:xfrm>
            <a:off x="3489807" y="3108960"/>
            <a:ext cx="2468880" cy="1371600"/>
          </a:xfrm>
          <a:prstGeom prst="roundRect">
            <a:avLst/>
          </a:prstGeom>
          <a:solidFill>
            <a:srgbClr val="E8F1F8"/>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300" b="0">
                <a:solidFill>
                  <a:srgbClr val="1A1A1A"/>
                </a:solidFill>
              </a:defRPr>
            </a:pPr>
            <a:r>
              <a:t>Fact Checker</a:t>
            </a:r>
          </a:p>
          <a:p>
            <a:pPr algn="ctr">
              <a:defRPr sz="1200">
                <a:solidFill>
                  <a:srgbClr val="1A1A1A"/>
                </a:solidFill>
              </a:defRPr>
            </a:pPr>
            <a:r>
              <a:t>Behauptungen prüfen</a:t>
            </a:r>
          </a:p>
          <a:p>
            <a:pPr algn="ctr">
              <a:defRPr sz="1200">
                <a:solidFill>
                  <a:srgbClr val="1A1A1A"/>
                </a:solidFill>
              </a:defRPr>
            </a:pPr>
            <a:r>
              <a:t>(Web-Recherche)</a:t>
            </a:r>
          </a:p>
        </p:txBody>
      </p:sp>
      <p:sp>
        <p:nvSpPr>
          <p:cNvPr id="16" name="Rounded Rectangle 15"/>
          <p:cNvSpPr/>
          <p:nvPr/>
        </p:nvSpPr>
        <p:spPr>
          <a:xfrm>
            <a:off x="6233007" y="3108960"/>
            <a:ext cx="2468880" cy="1371600"/>
          </a:xfrm>
          <a:prstGeom prst="roundRect">
            <a:avLst/>
          </a:prstGeom>
          <a:solidFill>
            <a:srgbClr val="E8F1F8"/>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300" b="0">
                <a:solidFill>
                  <a:srgbClr val="1A1A1A"/>
                </a:solidFill>
              </a:defRPr>
            </a:pPr>
            <a:r>
              <a:t>Embedder</a:t>
            </a:r>
          </a:p>
          <a:p>
            <a:pPr algn="ctr">
              <a:defRPr sz="1200">
                <a:solidFill>
                  <a:srgbClr val="1A1A1A"/>
                </a:solidFill>
              </a:defRPr>
            </a:pPr>
            <a:r>
              <a:t>Vektoren für die</a:t>
            </a:r>
          </a:p>
          <a:p>
            <a:pPr algn="ctr">
              <a:defRPr sz="1200">
                <a:solidFill>
                  <a:srgbClr val="1A1A1A"/>
                </a:solidFill>
              </a:defRPr>
            </a:pPr>
            <a:r>
              <a:t>semantische Suche</a:t>
            </a:r>
          </a:p>
        </p:txBody>
      </p:sp>
      <p:sp>
        <p:nvSpPr>
          <p:cNvPr id="17" name="Rounded Rectangle 16"/>
          <p:cNvSpPr/>
          <p:nvPr/>
        </p:nvSpPr>
        <p:spPr>
          <a:xfrm>
            <a:off x="8976207" y="3108960"/>
            <a:ext cx="2468880" cy="1371600"/>
          </a:xfrm>
          <a:prstGeom prst="roundRect">
            <a:avLst/>
          </a:prstGeom>
          <a:solidFill>
            <a:srgbClr val="E8F1F8"/>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300" b="0">
                <a:solidFill>
                  <a:srgbClr val="1A1A1A"/>
                </a:solidFill>
              </a:defRPr>
            </a:pPr>
            <a:r>
              <a:t>Emotion Analyser</a:t>
            </a:r>
          </a:p>
          <a:p>
            <a:pPr algn="ctr">
              <a:defRPr sz="1200">
                <a:solidFill>
                  <a:srgbClr val="1A1A1A"/>
                </a:solidFill>
              </a:defRPr>
            </a:pPr>
            <a:r>
              <a:t>Emotion je</a:t>
            </a:r>
          </a:p>
          <a:p>
            <a:pPr algn="ctr">
              <a:defRPr sz="1200">
                <a:solidFill>
                  <a:srgbClr val="1A1A1A"/>
                </a:solidFill>
              </a:defRPr>
            </a:pPr>
            <a:r>
              <a:t>Transkript-Zeile</a:t>
            </a:r>
          </a:p>
        </p:txBody>
      </p:sp>
      <p:sp>
        <p:nvSpPr>
          <p:cNvPr id="18" name="TextBox 17"/>
          <p:cNvSpPr txBox="1"/>
          <p:nvPr/>
        </p:nvSpPr>
        <p:spPr>
          <a:xfrm>
            <a:off x="746607" y="4617720"/>
            <a:ext cx="10698480" cy="365760"/>
          </a:xfrm>
          <a:prstGeom prst="rect">
            <a:avLst/>
          </a:prstGeom>
          <a:noFill/>
        </p:spPr>
        <p:txBody>
          <a:bodyPr wrap="square">
            <a:spAutoFit/>
          </a:bodyPr>
          <a:lstStyle/>
          <a:p>
            <a:pPr algn="ctr">
              <a:defRPr sz="1200" b="0" i="0">
                <a:solidFill>
                  <a:srgbClr val="5A5A5A"/>
                </a:solidFill>
              </a:defRPr>
            </a:pPr>
            <a:r>
              <a:t>Vier eigenständige Module – einzeln oder gemeinsam über einen zentralen Runner steuerbar</a:t>
            </a:r>
          </a:p>
        </p:txBody>
      </p:sp>
      <p:sp>
        <p:nvSpPr>
          <p:cNvPr id="19" name="TextBox 18"/>
          <p:cNvSpPr txBox="1"/>
          <p:nvPr/>
        </p:nvSpPr>
        <p:spPr>
          <a:xfrm>
            <a:off x="457200" y="5894697888000"/>
            <a:ext cx="10311958548000" cy="292644576000"/>
          </a:xfrm>
          <a:prstGeom prst="rect">
            <a:avLst/>
          </a:prstGeom>
          <a:noFill/>
        </p:spPr>
        <p:txBody>
          <a:bodyPr wrap="square">
            <a:spAutoFit/>
          </a:bodyPr>
          <a:lstStyle/>
          <a:p>
            <a:pPr algn="l">
              <a:defRPr sz="1000" b="0" i="1">
                <a:solidFill>
                  <a:srgbClr val="5A5A5A"/>
                </a:solidFill>
              </a:defRPr>
            </a:pPr>
            <a:r>
              <a:t>media-lens – Silver Enriched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822960"/>
          </a:xfrm>
          <a:prstGeom prst="rect">
            <a:avLst/>
          </a:prstGeom>
          <a:noFill/>
        </p:spPr>
        <p:txBody>
          <a:bodyPr wrap="square">
            <a:spAutoFit/>
          </a:bodyPr>
          <a:lstStyle/>
          <a:p>
            <a:pPr>
              <a:defRPr sz="3000" b="1">
                <a:solidFill>
                  <a:srgbClr val="1F3B57"/>
                </a:solidFill>
              </a:defRPr>
            </a:pPr>
            <a:r>
              <a:t>Full Load vs. Delta Load</a:t>
            </a:r>
          </a:p>
          <a:p>
            <a:pPr>
              <a:defRPr sz="1500">
                <a:solidFill>
                  <a:srgbClr val="5A5A5A"/>
                </a:solidFill>
              </a:defRPr>
            </a:pPr>
            <a:r>
              <a:t>Wie entscheidet die Pipeline, was neu verarbeitet werden muss?</a:t>
            </a:r>
          </a:p>
        </p:txBody>
      </p:sp>
      <p:sp>
        <p:nvSpPr>
          <p:cNvPr id="3" name="Rectangle 2"/>
          <p:cNvSpPr/>
          <p:nvPr/>
        </p:nvSpPr>
        <p:spPr>
          <a:xfrm>
            <a:off x="457200" y="1051560"/>
            <a:ext cx="2011680" cy="381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00887" y="1463040"/>
            <a:ext cx="5120640" cy="548640"/>
          </a:xfrm>
          <a:prstGeom prst="roundRect">
            <a:avLst/>
          </a:prstGeom>
          <a:solidFill>
            <a:srgbClr val="1F3B57"/>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600" b="1">
                <a:solidFill>
                  <a:srgbClr val="FFFFFF"/>
                </a:solidFill>
              </a:defRPr>
            </a:pPr>
            <a:r>
              <a:t>FULL LOAD</a:t>
            </a:r>
          </a:p>
        </p:txBody>
      </p:sp>
      <p:sp>
        <p:nvSpPr>
          <p:cNvPr id="5" name="Rounded Rectangle 4"/>
          <p:cNvSpPr/>
          <p:nvPr/>
        </p:nvSpPr>
        <p:spPr>
          <a:xfrm>
            <a:off x="6370167" y="1463040"/>
            <a:ext cx="5120640" cy="548640"/>
          </a:xfrm>
          <a:prstGeom prst="roundRect">
            <a:avLst/>
          </a:prstGeom>
          <a:solidFill>
            <a:srgbClr val="2E86AB"/>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600" b="1">
                <a:solidFill>
                  <a:srgbClr val="FFFFFF"/>
                </a:solidFill>
              </a:defRPr>
            </a:pPr>
            <a:r>
              <a:t>DELTA LOAD  (Standard)</a:t>
            </a:r>
          </a:p>
        </p:txBody>
      </p:sp>
      <p:sp>
        <p:nvSpPr>
          <p:cNvPr id="6" name="Rounded Rectangle 5"/>
          <p:cNvSpPr/>
          <p:nvPr/>
        </p:nvSpPr>
        <p:spPr>
          <a:xfrm>
            <a:off x="700887" y="2194560"/>
            <a:ext cx="5120640" cy="1371600"/>
          </a:xfrm>
          <a:prstGeom prst="roundRect">
            <a:avLst/>
          </a:prstGeom>
          <a:solidFill>
            <a:srgbClr val="E8F1F8"/>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400" b="0">
                <a:solidFill>
                  <a:srgbClr val="1A1A1A"/>
                </a:solidFill>
              </a:defRPr>
            </a:pPr>
            <a:r>
              <a:t>Alles wird neu verarbeitet –</a:t>
            </a:r>
          </a:p>
          <a:p>
            <a:pPr algn="ctr">
              <a:defRPr sz="1300">
                <a:solidFill>
                  <a:srgbClr val="1A1A1A"/>
                </a:solidFill>
              </a:defRPr>
            </a:pPr>
            <a:r>
              <a:t>unabhängig davon, ob es schon</a:t>
            </a:r>
          </a:p>
          <a:p>
            <a:pPr algn="ctr">
              <a:defRPr sz="1300">
                <a:solidFill>
                  <a:srgbClr val="1A1A1A"/>
                </a:solidFill>
              </a:defRPr>
            </a:pPr>
            <a:r>
              <a:t>einmal bearbeitet wurde.</a:t>
            </a:r>
          </a:p>
        </p:txBody>
      </p:sp>
      <p:sp>
        <p:nvSpPr>
          <p:cNvPr id="7" name="Rounded Rectangle 6"/>
          <p:cNvSpPr/>
          <p:nvPr/>
        </p:nvSpPr>
        <p:spPr>
          <a:xfrm>
            <a:off x="700887" y="3749039"/>
            <a:ext cx="5120640" cy="1005840"/>
          </a:xfrm>
          <a:prstGeom prst="roundRect">
            <a:avLst/>
          </a:prstGeom>
          <a:solidFill>
            <a:srgbClr val="F5F5F5"/>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300" b="0">
                <a:solidFill>
                  <a:srgbClr val="1A1A1A"/>
                </a:solidFill>
              </a:defRPr>
            </a:pPr>
            <a:r>
              <a:t>Sinnvoll für: Erstbefüllung,</a:t>
            </a:r>
          </a:p>
          <a:p>
            <a:pPr algn="ctr">
              <a:defRPr sz="1200">
                <a:solidFill>
                  <a:srgbClr val="1A1A1A"/>
                </a:solidFill>
              </a:defRPr>
            </a:pPr>
            <a:r>
              <a:t>oder wenn sich Modell/Vorgehen</a:t>
            </a:r>
          </a:p>
          <a:p>
            <a:pPr algn="ctr">
              <a:defRPr sz="1200">
                <a:solidFill>
                  <a:srgbClr val="1A1A1A"/>
                </a:solidFill>
              </a:defRPr>
            </a:pPr>
            <a:r>
              <a:t>geändert hat und alles neu</a:t>
            </a:r>
          </a:p>
          <a:p>
            <a:pPr algn="ctr">
              <a:defRPr sz="1200">
                <a:solidFill>
                  <a:srgbClr val="1A1A1A"/>
                </a:solidFill>
              </a:defRPr>
            </a:pPr>
            <a:r>
              <a:t>berechnet werden soll.</a:t>
            </a:r>
          </a:p>
        </p:txBody>
      </p:sp>
      <p:sp>
        <p:nvSpPr>
          <p:cNvPr id="8" name="Rounded Rectangle 7"/>
          <p:cNvSpPr/>
          <p:nvPr/>
        </p:nvSpPr>
        <p:spPr>
          <a:xfrm>
            <a:off x="6370167" y="2194560"/>
            <a:ext cx="5120640" cy="1371600"/>
          </a:xfrm>
          <a:prstGeom prst="roundRect">
            <a:avLst/>
          </a:prstGeom>
          <a:solidFill>
            <a:srgbClr val="E8F1F8"/>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400" b="0">
                <a:solidFill>
                  <a:srgbClr val="1A1A1A"/>
                </a:solidFill>
              </a:defRPr>
            </a:pPr>
            <a:r>
              <a:t>Nur Datensätze, die seit dem</a:t>
            </a:r>
          </a:p>
          <a:p>
            <a:pPr algn="ctr">
              <a:defRPr sz="1300">
                <a:solidFill>
                  <a:srgbClr val="1A1A1A"/>
                </a:solidFill>
              </a:defRPr>
            </a:pPr>
            <a:r>
              <a:t>letzten erfolgreichen Lauf NEU</a:t>
            </a:r>
          </a:p>
          <a:p>
            <a:pPr algn="ctr">
              <a:defRPr sz="1300">
                <a:solidFill>
                  <a:srgbClr val="1A1A1A"/>
                </a:solidFill>
              </a:defRPr>
            </a:pPr>
            <a:r>
              <a:t>oder GEÄNDERT sind, werden</a:t>
            </a:r>
          </a:p>
          <a:p>
            <a:pPr algn="ctr">
              <a:defRPr sz="1300">
                <a:solidFill>
                  <a:srgbClr val="1A1A1A"/>
                </a:solidFill>
              </a:defRPr>
            </a:pPr>
            <a:r>
              <a:t>verarbeitet.</a:t>
            </a:r>
          </a:p>
        </p:txBody>
      </p:sp>
      <p:sp>
        <p:nvSpPr>
          <p:cNvPr id="9" name="Rounded Rectangle 8"/>
          <p:cNvSpPr/>
          <p:nvPr/>
        </p:nvSpPr>
        <p:spPr>
          <a:xfrm>
            <a:off x="6370167" y="3749039"/>
            <a:ext cx="5120640" cy="1005840"/>
          </a:xfrm>
          <a:prstGeom prst="roundRect">
            <a:avLst/>
          </a:prstGeom>
          <a:solidFill>
            <a:srgbClr val="E6F4EA"/>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300" b="0">
                <a:solidFill>
                  <a:srgbClr val="1A1A1A"/>
                </a:solidFill>
              </a:defRPr>
            </a:pPr>
            <a:r>
              <a:t>Spart teure LLM-/Such-/</a:t>
            </a:r>
          </a:p>
          <a:p>
            <a:pPr algn="ctr">
              <a:defRPr sz="1200">
                <a:solidFill>
                  <a:srgbClr val="1A1A1A"/>
                </a:solidFill>
              </a:defRPr>
            </a:pPr>
            <a:r>
              <a:t>Audio-Aufrufe. Wiederholte Läufe</a:t>
            </a:r>
          </a:p>
          <a:p>
            <a:pPr algn="ctr">
              <a:defRPr sz="1200">
                <a:solidFill>
                  <a:srgbClr val="1A1A1A"/>
                </a:solidFill>
              </a:defRPr>
            </a:pPr>
            <a:r>
              <a:t>sind günstig und sicher</a:t>
            </a:r>
          </a:p>
          <a:p>
            <a:pPr algn="ctr">
              <a:defRPr sz="1200">
                <a:solidFill>
                  <a:srgbClr val="1A1A1A"/>
                </a:solidFill>
              </a:defRPr>
            </a:pPr>
            <a:r>
              <a:t>(kein Datenverlust).</a:t>
            </a:r>
          </a:p>
        </p:txBody>
      </p:sp>
      <p:sp>
        <p:nvSpPr>
          <p:cNvPr id="10" name="Rounded Rectangle 9"/>
          <p:cNvSpPr/>
          <p:nvPr/>
        </p:nvSpPr>
        <p:spPr>
          <a:xfrm>
            <a:off x="700887" y="4983480"/>
            <a:ext cx="10789919" cy="822960"/>
          </a:xfrm>
          <a:prstGeom prst="roundRect">
            <a:avLst/>
          </a:prstGeom>
          <a:solidFill>
            <a:srgbClr val="FDF1E2"/>
          </a:solidFill>
          <a:ln w="15875">
            <a:solidFill>
              <a:srgbClr val="F29B5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300" b="0">
                <a:solidFill>
                  <a:srgbClr val="1A1A1A"/>
                </a:solidFill>
              </a:defRPr>
            </a:pPr>
            <a:r>
              <a:t>Wasserzeichen ("Watermark"): der Zeitpunkt des letzten erfolgreichen Laufs eines Moduls.</a:t>
            </a:r>
          </a:p>
          <a:p>
            <a:pPr algn="ctr">
              <a:defRPr sz="1200">
                <a:solidFill>
                  <a:srgbClr val="1A1A1A"/>
                </a:solidFill>
              </a:defRPr>
            </a:pPr>
            <a:r>
              <a:t>Neuer Datensatz als das Wasserzeichen?  →  verarbeiten.   Älter oder gleich?  →  überspringen.</a:t>
            </a:r>
          </a:p>
        </p:txBody>
      </p:sp>
      <p:sp>
        <p:nvSpPr>
          <p:cNvPr id="11" name="TextBox 10"/>
          <p:cNvSpPr txBox="1"/>
          <p:nvPr/>
        </p:nvSpPr>
        <p:spPr>
          <a:xfrm>
            <a:off x="457200" y="5894697888000"/>
            <a:ext cx="10311958548000" cy="292644576000"/>
          </a:xfrm>
          <a:prstGeom prst="rect">
            <a:avLst/>
          </a:prstGeom>
          <a:noFill/>
        </p:spPr>
        <p:txBody>
          <a:bodyPr wrap="square">
            <a:spAutoFit/>
          </a:bodyPr>
          <a:lstStyle/>
          <a:p>
            <a:pPr algn="l">
              <a:defRPr sz="1000" b="0" i="1">
                <a:solidFill>
                  <a:srgbClr val="5A5A5A"/>
                </a:solidFill>
              </a:defRPr>
            </a:pPr>
            <a:r>
              <a:t>media-lens – Lade-Strategie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822960"/>
          </a:xfrm>
          <a:prstGeom prst="rect">
            <a:avLst/>
          </a:prstGeom>
          <a:noFill/>
        </p:spPr>
        <p:txBody>
          <a:bodyPr wrap="square">
            <a:spAutoFit/>
          </a:bodyPr>
          <a:lstStyle/>
          <a:p>
            <a:pPr>
              <a:defRPr sz="3000" b="1">
                <a:solidFill>
                  <a:srgbClr val="1F3B57"/>
                </a:solidFill>
              </a:defRPr>
            </a:pPr>
            <a:r>
              <a:t>Delta Load – Watermark pro Modul (technisch)</a:t>
            </a:r>
          </a:p>
          <a:p>
            <a:pPr>
              <a:defRPr sz="1500">
                <a:solidFill>
                  <a:srgbClr val="5A5A5A"/>
                </a:solidFill>
              </a:defRPr>
            </a:pPr>
            <a:r>
              <a:t>Jedes Modul filtert seine Quelle gegen den Start seines letzten erfolgreichen Laufs</a:t>
            </a:r>
          </a:p>
        </p:txBody>
      </p:sp>
      <p:sp>
        <p:nvSpPr>
          <p:cNvPr id="3" name="Rectangle 2"/>
          <p:cNvSpPr/>
          <p:nvPr/>
        </p:nvSpPr>
        <p:spPr>
          <a:xfrm>
            <a:off x="457200" y="1051560"/>
            <a:ext cx="2011680" cy="381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508760"/>
            <a:ext cx="5120640" cy="274320"/>
          </a:xfrm>
          <a:prstGeom prst="rect">
            <a:avLst/>
          </a:prstGeom>
          <a:noFill/>
        </p:spPr>
        <p:txBody>
          <a:bodyPr wrap="square">
            <a:spAutoFit/>
          </a:bodyPr>
          <a:lstStyle/>
          <a:p>
            <a:pPr algn="l">
              <a:defRPr sz="1300" b="1" i="0">
                <a:solidFill>
                  <a:srgbClr val="1F3B57"/>
                </a:solidFill>
              </a:defRPr>
            </a:pPr>
            <a:r>
              <a:t>1)  Watermark holen  (fetch_stage_watermark)</a:t>
            </a:r>
          </a:p>
        </p:txBody>
      </p:sp>
      <p:sp>
        <p:nvSpPr>
          <p:cNvPr id="5" name="Rounded Rectangle 4"/>
          <p:cNvSpPr/>
          <p:nvPr/>
        </p:nvSpPr>
        <p:spPr>
          <a:xfrm>
            <a:off x="457200" y="1828800"/>
            <a:ext cx="5120640" cy="1600200"/>
          </a:xfrm>
          <a:prstGeom prst="roundRect">
            <a:avLst/>
          </a:prstGeom>
          <a:solidFill>
            <a:srgbClr val="2B2B2B"/>
          </a:solidFill>
          <a:ln w="12700">
            <a:solidFill>
              <a:srgbClr val="1F3B57"/>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tIns="91440"/>
          <a:lstStyle/>
          <a:p>
            <a:pPr algn="ctr">
              <a:defRPr sz="1400">
                <a:solidFill>
                  <a:srgbClr val="E8E8E8"/>
                </a:solidFill>
                <a:latin typeface="Consolas"/>
              </a:defRPr>
            </a:pPr>
            <a:r>
              <a:t>SELECT MAX(start_ts)</a:t>
            </a:r>
          </a:p>
          <a:p>
            <a:pPr>
              <a:defRPr sz="1400">
                <a:solidFill>
                  <a:srgbClr val="E8E8E8"/>
                </a:solidFill>
                <a:latin typeface="Consolas"/>
              </a:defRPr>
            </a:pPr>
            <a:r>
              <a:t>FROM   pipeline_batches</a:t>
            </a:r>
          </a:p>
          <a:p>
            <a:pPr>
              <a:defRPr sz="1400">
                <a:solidFill>
                  <a:srgbClr val="9CDCFE"/>
                </a:solidFill>
                <a:latin typeface="Consolas"/>
              </a:defRPr>
            </a:pPr>
            <a:r>
              <a:t>WHERE  stage  = '&lt;modul&gt;'</a:t>
            </a:r>
          </a:p>
          <a:p>
            <a:pPr>
              <a:defRPr sz="1400">
                <a:solidFill>
                  <a:srgbClr val="9CDCFE"/>
                </a:solidFill>
                <a:latin typeface="Consolas"/>
              </a:defRPr>
            </a:pPr>
            <a:r>
              <a:t>  AND  status = 'success'</a:t>
            </a:r>
          </a:p>
        </p:txBody>
      </p:sp>
      <p:sp>
        <p:nvSpPr>
          <p:cNvPr id="6" name="TextBox 5"/>
          <p:cNvSpPr txBox="1"/>
          <p:nvPr/>
        </p:nvSpPr>
        <p:spPr>
          <a:xfrm>
            <a:off x="457200" y="3611880"/>
            <a:ext cx="5120640" cy="274320"/>
          </a:xfrm>
          <a:prstGeom prst="rect">
            <a:avLst/>
          </a:prstGeom>
          <a:noFill/>
        </p:spPr>
        <p:txBody>
          <a:bodyPr wrap="square">
            <a:spAutoFit/>
          </a:bodyPr>
          <a:lstStyle/>
          <a:p>
            <a:pPr algn="l">
              <a:defRPr sz="1300" b="1" i="0">
                <a:solidFill>
                  <a:srgbClr val="1F3B57"/>
                </a:solidFill>
              </a:defRPr>
            </a:pPr>
            <a:r>
              <a:t>2)  Delta-Filter auf die Quelle</a:t>
            </a:r>
          </a:p>
        </p:txBody>
      </p:sp>
      <p:sp>
        <p:nvSpPr>
          <p:cNvPr id="7" name="Rounded Rectangle 6"/>
          <p:cNvSpPr/>
          <p:nvPr/>
        </p:nvSpPr>
        <p:spPr>
          <a:xfrm>
            <a:off x="457200" y="3931920"/>
            <a:ext cx="5120640" cy="1097280"/>
          </a:xfrm>
          <a:prstGeom prst="roundRect">
            <a:avLst/>
          </a:prstGeom>
          <a:solidFill>
            <a:srgbClr val="2B2B2B"/>
          </a:solidFill>
          <a:ln w="12700">
            <a:solidFill>
              <a:srgbClr val="1F3B57"/>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tIns="91440"/>
          <a:lstStyle/>
          <a:p>
            <a:pPr algn="ctr">
              <a:defRPr sz="1300">
                <a:solidFill>
                  <a:srgbClr val="E8E8E8"/>
                </a:solidFill>
                <a:latin typeface="Consolas"/>
              </a:defRPr>
            </a:pPr>
            <a:r>
              <a:t>WHERE preprocessing_updated_at</a:t>
            </a:r>
          </a:p>
          <a:p>
            <a:pPr>
              <a:defRPr sz="1300">
                <a:solidFill>
                  <a:srgbClr val="CE9178"/>
                </a:solidFill>
                <a:latin typeface="Consolas"/>
              </a:defRPr>
            </a:pPr>
            <a:r>
              <a:t>      &gt; watermark</a:t>
            </a:r>
          </a:p>
          <a:p>
            <a:pPr>
              <a:defRPr sz="1300">
                <a:solidFill>
                  <a:srgbClr val="E8E8E8"/>
                </a:solidFill>
                <a:latin typeface="Consolas"/>
              </a:defRPr>
            </a:pPr>
          </a:p>
          <a:p>
            <a:pPr>
              <a:defRPr sz="1300">
                <a:solidFill>
                  <a:srgbClr val="6A9955"/>
                </a:solidFill>
                <a:latin typeface="Consolas"/>
              </a:defRPr>
            </a:pPr>
            <a:r>
              <a:t>watermark = NULL  -&gt;  kein Filter</a:t>
            </a:r>
          </a:p>
        </p:txBody>
      </p:sp>
      <p:sp>
        <p:nvSpPr>
          <p:cNvPr id="8" name="TextBox 7"/>
          <p:cNvSpPr txBox="1"/>
          <p:nvPr/>
        </p:nvSpPr>
        <p:spPr>
          <a:xfrm>
            <a:off x="5806440" y="1508760"/>
            <a:ext cx="5943600" cy="274320"/>
          </a:xfrm>
          <a:prstGeom prst="rect">
            <a:avLst/>
          </a:prstGeom>
          <a:noFill/>
        </p:spPr>
        <p:txBody>
          <a:bodyPr wrap="square">
            <a:spAutoFit/>
          </a:bodyPr>
          <a:lstStyle/>
          <a:p>
            <a:pPr algn="l">
              <a:defRPr sz="1300" b="1" i="0">
                <a:solidFill>
                  <a:srgbClr val="1F3B57"/>
                </a:solidFill>
              </a:defRPr>
            </a:pPr>
            <a:r>
              <a:t>Welches Modul filtert gegen welche Quelle / Stage?</a:t>
            </a:r>
          </a:p>
        </p:txBody>
      </p:sp>
      <p:graphicFrame>
        <p:nvGraphicFramePr>
          <p:cNvPr id="9" name="Table 8"/>
          <p:cNvGraphicFramePr>
            <a:graphicFrameLocks noGrp="1"/>
          </p:cNvGraphicFramePr>
          <p:nvPr/>
        </p:nvGraphicFramePr>
        <p:xfrm>
          <a:off x="5806440" y="1828800"/>
          <a:ext cx="5943600" cy="2880360"/>
        </p:xfrm>
        <a:graphic>
          <a:graphicData uri="http://schemas.openxmlformats.org/drawingml/2006/table">
            <a:tbl>
              <a:tblPr>
                <a:tableStyleId>{5C22544A-7EE6-4342-B048-85BDC9FD1C3A}</a:tableStyleId>
              </a:tblPr>
              <a:tblGrid>
                <a:gridCol w="2240280"/>
                <a:gridCol w="2331720"/>
                <a:gridCol w="1371600"/>
              </a:tblGrid>
              <a:tr h="411480">
                <a:tc>
                  <a:txBody>
                    <a:bodyPr/>
                    <a:lstStyle/>
                    <a:p>
                      <a:pPr>
                        <a:defRPr sz="1100" b="1">
                          <a:solidFill>
                            <a:srgbClr val="FFFFFF"/>
                          </a:solidFill>
                        </a:defRPr>
                      </a:pPr>
                      <a:r>
                        <a:t>Modul (Step)</a:t>
                      </a:r>
                    </a:p>
                  </a:txBody>
                  <a:tcPr marL="73152" marR="45720" marT="18288" marB="18288" anchor="ctr">
                    <a:solidFill>
                      <a:srgbClr val="1F3B57"/>
                    </a:solidFill>
                  </a:tcPr>
                </a:tc>
                <a:tc>
                  <a:txBody>
                    <a:bodyPr/>
                    <a:lstStyle/>
                    <a:p>
                      <a:pPr>
                        <a:defRPr sz="1100" b="1">
                          <a:solidFill>
                            <a:srgbClr val="FFFFFF"/>
                          </a:solidFill>
                        </a:defRPr>
                      </a:pPr>
                      <a:r>
                        <a:t>Quelle  (…_updated_at)</a:t>
                      </a:r>
                    </a:p>
                  </a:txBody>
                  <a:tcPr marL="73152" marR="45720" marT="18288" marB="18288" anchor="ctr">
                    <a:solidFill>
                      <a:srgbClr val="1F3B57"/>
                    </a:solidFill>
                  </a:tcPr>
                </a:tc>
                <a:tc>
                  <a:txBody>
                    <a:bodyPr/>
                    <a:lstStyle/>
                    <a:p>
                      <a:pPr>
                        <a:defRPr sz="1100" b="1">
                          <a:solidFill>
                            <a:srgbClr val="FFFFFF"/>
                          </a:solidFill>
                        </a:defRPr>
                      </a:pPr>
                      <a:r>
                        <a:t>Watermark-Stage</a:t>
                      </a:r>
                    </a:p>
                  </a:txBody>
                  <a:tcPr marL="73152" marR="45720" marT="18288" marB="18288" anchor="ctr">
                    <a:solidFill>
                      <a:srgbClr val="1F3B57"/>
                    </a:solidFill>
                  </a:tcPr>
                </a:tc>
              </a:tr>
              <a:tr h="411480">
                <a:tc>
                  <a:txBody>
                    <a:bodyPr/>
                    <a:lstStyle/>
                    <a:p>
                      <a:pPr>
                        <a:defRPr sz="1100" b="0">
                          <a:solidFill>
                            <a:srgbClr val="1A1A1A"/>
                          </a:solidFill>
                        </a:defRPr>
                      </a:pPr>
                      <a:r>
                        <a:t>Text Summarizer</a:t>
                      </a:r>
                    </a:p>
                  </a:txBody>
                  <a:tcPr marL="73152" marR="45720" marT="18288" marB="18288" anchor="ctr">
                    <a:solidFill>
                      <a:srgbClr val="E8F1F8"/>
                    </a:solidFill>
                  </a:tcPr>
                </a:tc>
                <a:tc>
                  <a:txBody>
                    <a:bodyPr/>
                    <a:lstStyle/>
                    <a:p>
                      <a:pPr>
                        <a:defRPr sz="1100" b="0">
                          <a:solidFill>
                            <a:srgbClr val="1A1A1A"/>
                          </a:solidFill>
                          <a:latin typeface="Consolas"/>
                        </a:defRPr>
                      </a:pPr>
                      <a:r>
                        <a:t>chapters</a:t>
                      </a:r>
                    </a:p>
                  </a:txBody>
                  <a:tcPr marL="73152" marR="45720" marT="18288" marB="18288" anchor="ctr">
                    <a:solidFill>
                      <a:srgbClr val="E8F1F8"/>
                    </a:solidFill>
                  </a:tcPr>
                </a:tc>
                <a:tc>
                  <a:txBody>
                    <a:bodyPr/>
                    <a:lstStyle/>
                    <a:p>
                      <a:pPr>
                        <a:defRPr sz="1100" b="0">
                          <a:solidFill>
                            <a:srgbClr val="1A1A1A"/>
                          </a:solidFill>
                          <a:latin typeface="Consolas"/>
                        </a:defRPr>
                      </a:pPr>
                      <a:r>
                        <a:t>text_summarizer</a:t>
                      </a:r>
                    </a:p>
                  </a:txBody>
                  <a:tcPr marL="73152" marR="45720" marT="18288" marB="18288" anchor="ctr">
                    <a:solidFill>
                      <a:srgbClr val="E8F1F8"/>
                    </a:solidFill>
                  </a:tcPr>
                </a:tc>
              </a:tr>
              <a:tr h="411480">
                <a:tc>
                  <a:txBody>
                    <a:bodyPr/>
                    <a:lstStyle/>
                    <a:p>
                      <a:pPr>
                        <a:defRPr sz="1100" b="0">
                          <a:solidFill>
                            <a:srgbClr val="1A1A1A"/>
                          </a:solidFill>
                        </a:defRPr>
                      </a:pPr>
                      <a:r>
                        <a:t>Fact Checker</a:t>
                      </a:r>
                    </a:p>
                  </a:txBody>
                  <a:tcPr marL="73152" marR="45720" marT="18288" marB="18288" anchor="ctr">
                    <a:solidFill>
                      <a:srgbClr val="E8F1F8"/>
                    </a:solidFill>
                  </a:tcPr>
                </a:tc>
                <a:tc>
                  <a:txBody>
                    <a:bodyPr/>
                    <a:lstStyle/>
                    <a:p>
                      <a:pPr>
                        <a:defRPr sz="1100" b="0">
                          <a:solidFill>
                            <a:srgbClr val="1A1A1A"/>
                          </a:solidFill>
                          <a:latin typeface="Consolas"/>
                        </a:defRPr>
                      </a:pPr>
                      <a:r>
                        <a:t>chapters</a:t>
                      </a:r>
                    </a:p>
                  </a:txBody>
                  <a:tcPr marL="73152" marR="45720" marT="18288" marB="18288" anchor="ctr">
                    <a:solidFill>
                      <a:srgbClr val="E8F1F8"/>
                    </a:solidFill>
                  </a:tcPr>
                </a:tc>
                <a:tc>
                  <a:txBody>
                    <a:bodyPr/>
                    <a:lstStyle/>
                    <a:p>
                      <a:pPr>
                        <a:defRPr sz="1100" b="0">
                          <a:solidFill>
                            <a:srgbClr val="1A1A1A"/>
                          </a:solidFill>
                          <a:latin typeface="Consolas"/>
                        </a:defRPr>
                      </a:pPr>
                      <a:r>
                        <a:t>fact_checker</a:t>
                      </a:r>
                    </a:p>
                  </a:txBody>
                  <a:tcPr marL="73152" marR="45720" marT="18288" marB="18288" anchor="ctr">
                    <a:solidFill>
                      <a:srgbClr val="E8F1F8"/>
                    </a:solidFill>
                  </a:tcPr>
                </a:tc>
              </a:tr>
              <a:tr h="411480">
                <a:tc>
                  <a:txBody>
                    <a:bodyPr/>
                    <a:lstStyle/>
                    <a:p>
                      <a:pPr>
                        <a:defRPr sz="1100" b="0">
                          <a:solidFill>
                            <a:srgbClr val="1A1A1A"/>
                          </a:solidFill>
                        </a:defRPr>
                      </a:pPr>
                      <a:r>
                        <a:t>Embedder · Kapitel</a:t>
                      </a:r>
                    </a:p>
                  </a:txBody>
                  <a:tcPr marL="73152" marR="45720" marT="18288" marB="18288" anchor="ctr">
                    <a:solidFill>
                      <a:srgbClr val="E6F4EA"/>
                    </a:solidFill>
                  </a:tcPr>
                </a:tc>
                <a:tc>
                  <a:txBody>
                    <a:bodyPr/>
                    <a:lstStyle/>
                    <a:p>
                      <a:pPr>
                        <a:defRPr sz="1100" b="0">
                          <a:solidFill>
                            <a:srgbClr val="1A1A1A"/>
                          </a:solidFill>
                          <a:latin typeface="Consolas"/>
                        </a:defRPr>
                      </a:pPr>
                      <a:r>
                        <a:t>chapters</a:t>
                      </a:r>
                    </a:p>
                  </a:txBody>
                  <a:tcPr marL="73152" marR="45720" marT="18288" marB="18288" anchor="ctr">
                    <a:solidFill>
                      <a:srgbClr val="E6F4EA"/>
                    </a:solidFill>
                  </a:tcPr>
                </a:tc>
                <a:tc>
                  <a:txBody>
                    <a:bodyPr/>
                    <a:lstStyle/>
                    <a:p>
                      <a:pPr>
                        <a:defRPr sz="1100" b="0">
                          <a:solidFill>
                            <a:srgbClr val="1A1A1A"/>
                          </a:solidFill>
                          <a:latin typeface="Consolas"/>
                        </a:defRPr>
                      </a:pPr>
                      <a:r>
                        <a:t>embedder</a:t>
                      </a:r>
                    </a:p>
                  </a:txBody>
                  <a:tcPr marL="73152" marR="45720" marT="18288" marB="18288" anchor="ctr">
                    <a:solidFill>
                      <a:srgbClr val="E6F4EA"/>
                    </a:solidFill>
                  </a:tcPr>
                </a:tc>
              </a:tr>
              <a:tr h="411480">
                <a:tc>
                  <a:txBody>
                    <a:bodyPr/>
                    <a:lstStyle/>
                    <a:p>
                      <a:pPr>
                        <a:defRPr sz="1100" b="0">
                          <a:solidFill>
                            <a:srgbClr val="1A1A1A"/>
                          </a:solidFill>
                        </a:defRPr>
                      </a:pPr>
                      <a:r>
                        <a:t>Embedder · Episode</a:t>
                      </a:r>
                    </a:p>
                  </a:txBody>
                  <a:tcPr marL="73152" marR="45720" marT="18288" marB="18288" anchor="ctr">
                    <a:solidFill>
                      <a:srgbClr val="E6F4EA"/>
                    </a:solidFill>
                  </a:tcPr>
                </a:tc>
                <a:tc>
                  <a:txBody>
                    <a:bodyPr/>
                    <a:lstStyle/>
                    <a:p>
                      <a:pPr>
                        <a:defRPr sz="1100" b="0">
                          <a:solidFill>
                            <a:srgbClr val="1A1A1A"/>
                          </a:solidFill>
                          <a:latin typeface="Consolas"/>
                        </a:defRPr>
                      </a:pPr>
                      <a:r>
                        <a:t>episodes</a:t>
                      </a:r>
                    </a:p>
                  </a:txBody>
                  <a:tcPr marL="73152" marR="45720" marT="18288" marB="18288" anchor="ctr">
                    <a:solidFill>
                      <a:srgbClr val="E6F4EA"/>
                    </a:solidFill>
                  </a:tcPr>
                </a:tc>
                <a:tc>
                  <a:txBody>
                    <a:bodyPr/>
                    <a:lstStyle/>
                    <a:p>
                      <a:pPr>
                        <a:defRPr sz="1100" b="0">
                          <a:solidFill>
                            <a:srgbClr val="1A1A1A"/>
                          </a:solidFill>
                          <a:latin typeface="Consolas"/>
                        </a:defRPr>
                      </a:pPr>
                      <a:r>
                        <a:t>embedder</a:t>
                      </a:r>
                    </a:p>
                  </a:txBody>
                  <a:tcPr marL="73152" marR="45720" marT="18288" marB="18288" anchor="ctr">
                    <a:solidFill>
                      <a:srgbClr val="E6F4EA"/>
                    </a:solidFill>
                  </a:tcPr>
                </a:tc>
              </a:tr>
              <a:tr h="411480">
                <a:tc>
                  <a:txBody>
                    <a:bodyPr/>
                    <a:lstStyle/>
                    <a:p>
                      <a:pPr>
                        <a:defRPr sz="1100" b="0">
                          <a:solidFill>
                            <a:srgbClr val="1A1A1A"/>
                          </a:solidFill>
                        </a:defRPr>
                      </a:pPr>
                      <a:r>
                        <a:t>Embedder · Podcast</a:t>
                      </a:r>
                    </a:p>
                  </a:txBody>
                  <a:tcPr marL="73152" marR="45720" marT="18288" marB="18288" anchor="ctr">
                    <a:solidFill>
                      <a:srgbClr val="E6F4EA"/>
                    </a:solidFill>
                  </a:tcPr>
                </a:tc>
                <a:tc>
                  <a:txBody>
                    <a:bodyPr/>
                    <a:lstStyle/>
                    <a:p>
                      <a:pPr>
                        <a:defRPr sz="1100" b="0">
                          <a:solidFill>
                            <a:srgbClr val="1A1A1A"/>
                          </a:solidFill>
                          <a:latin typeface="Consolas"/>
                        </a:defRPr>
                      </a:pPr>
                      <a:r>
                        <a:t>podcasts</a:t>
                      </a:r>
                    </a:p>
                  </a:txBody>
                  <a:tcPr marL="73152" marR="45720" marT="18288" marB="18288" anchor="ctr">
                    <a:solidFill>
                      <a:srgbClr val="E6F4EA"/>
                    </a:solidFill>
                  </a:tcPr>
                </a:tc>
                <a:tc>
                  <a:txBody>
                    <a:bodyPr/>
                    <a:lstStyle/>
                    <a:p>
                      <a:pPr>
                        <a:defRPr sz="1100" b="0">
                          <a:solidFill>
                            <a:srgbClr val="1A1A1A"/>
                          </a:solidFill>
                          <a:latin typeface="Consolas"/>
                        </a:defRPr>
                      </a:pPr>
                      <a:r>
                        <a:t>embedder</a:t>
                      </a:r>
                    </a:p>
                  </a:txBody>
                  <a:tcPr marL="73152" marR="45720" marT="18288" marB="18288" anchor="ctr">
                    <a:solidFill>
                      <a:srgbClr val="E6F4EA"/>
                    </a:solidFill>
                  </a:tcPr>
                </a:tc>
              </a:tr>
              <a:tr h="411480">
                <a:tc>
                  <a:txBody>
                    <a:bodyPr/>
                    <a:lstStyle/>
                    <a:p>
                      <a:pPr>
                        <a:defRPr sz="1100" b="0">
                          <a:solidFill>
                            <a:srgbClr val="1A1A1A"/>
                          </a:solidFill>
                        </a:defRPr>
                      </a:pPr>
                      <a:r>
                        <a:t>Emotion Analyser</a:t>
                      </a:r>
                    </a:p>
                  </a:txBody>
                  <a:tcPr marL="73152" marR="45720" marT="18288" marB="18288" anchor="ctr">
                    <a:solidFill>
                      <a:srgbClr val="E8F1F8"/>
                    </a:solidFill>
                  </a:tcPr>
                </a:tc>
                <a:tc>
                  <a:txBody>
                    <a:bodyPr/>
                    <a:lstStyle/>
                    <a:p>
                      <a:pPr>
                        <a:defRPr sz="1100" b="0">
                          <a:solidFill>
                            <a:srgbClr val="1A1A1A"/>
                          </a:solidFill>
                          <a:latin typeface="Consolas"/>
                        </a:defRPr>
                      </a:pPr>
                      <a:r>
                        <a:t>transcript_lines</a:t>
                      </a:r>
                    </a:p>
                  </a:txBody>
                  <a:tcPr marL="73152" marR="45720" marT="18288" marB="18288" anchor="ctr">
                    <a:solidFill>
                      <a:srgbClr val="E8F1F8"/>
                    </a:solidFill>
                  </a:tcPr>
                </a:tc>
                <a:tc>
                  <a:txBody>
                    <a:bodyPr/>
                    <a:lstStyle/>
                    <a:p>
                      <a:pPr>
                        <a:defRPr sz="1100" b="0">
                          <a:solidFill>
                            <a:srgbClr val="1A1A1A"/>
                          </a:solidFill>
                          <a:latin typeface="Consolas"/>
                        </a:defRPr>
                      </a:pPr>
                      <a:r>
                        <a:t>emotion_scoring</a:t>
                      </a:r>
                    </a:p>
                  </a:txBody>
                  <a:tcPr marL="73152" marR="45720" marT="18288" marB="18288" anchor="ctr">
                    <a:solidFill>
                      <a:srgbClr val="E8F1F8"/>
                    </a:solidFill>
                  </a:tcPr>
                </a:tc>
              </a:tr>
            </a:tbl>
          </a:graphicData>
        </a:graphic>
      </p:graphicFrame>
      <p:sp>
        <p:nvSpPr>
          <p:cNvPr id="10" name="TextBox 9"/>
          <p:cNvSpPr txBox="1"/>
          <p:nvPr/>
        </p:nvSpPr>
        <p:spPr>
          <a:xfrm>
            <a:off x="5806440" y="4754880"/>
            <a:ext cx="5943600" cy="320040"/>
          </a:xfrm>
          <a:prstGeom prst="rect">
            <a:avLst/>
          </a:prstGeom>
          <a:noFill/>
        </p:spPr>
        <p:txBody>
          <a:bodyPr wrap="square">
            <a:spAutoFit/>
          </a:bodyPr>
          <a:lstStyle/>
          <a:p>
            <a:pPr algn="l">
              <a:defRPr sz="1100" b="0" i="1">
                <a:solidFill>
                  <a:srgbClr val="3C7A53"/>
                </a:solidFill>
              </a:defRPr>
            </a:pPr>
            <a:r>
              <a:t>↑ Die drei Embedder-Ebenen teilen sich EINE Watermark (Stage 'embedder').</a:t>
            </a:r>
          </a:p>
        </p:txBody>
      </p:sp>
      <p:sp>
        <p:nvSpPr>
          <p:cNvPr id="11" name="Rounded Rectangle 10"/>
          <p:cNvSpPr/>
          <p:nvPr/>
        </p:nvSpPr>
        <p:spPr>
          <a:xfrm>
            <a:off x="457200" y="5166360"/>
            <a:ext cx="11274552" cy="1188720"/>
          </a:xfrm>
          <a:prstGeom prst="roundRect">
            <a:avLst/>
          </a:prstGeom>
          <a:solidFill>
            <a:srgbClr val="FDF1E2"/>
          </a:solidFill>
          <a:ln w="15875">
            <a:solidFill>
              <a:srgbClr val="F29B5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73152"/>
          <a:lstStyle/>
          <a:p>
            <a:pPr algn="ctr">
              <a:spcAft>
                <a:spcPts val="300"/>
              </a:spcAft>
              <a:defRPr sz="1150">
                <a:solidFill>
                  <a:srgbClr val="1A1A1A"/>
                </a:solidFill>
              </a:defRPr>
            </a:pPr>
            <a:r>
              <a:t>•  start_ts statt fin_ts:  ein Datensatz, der WÄHREND des Laufs neu vorverarbeitet wird, geht nicht verloren – er kommt beim nächsten Lauf erneut dran (idempotent).</a:t>
            </a:r>
          </a:p>
          <a:p>
            <a:pPr>
              <a:spcAft>
                <a:spcPts val="300"/>
              </a:spcAft>
              <a:defRPr sz="1150">
                <a:solidFill>
                  <a:srgbClr val="1A1A1A"/>
                </a:solidFill>
              </a:defRPr>
            </a:pPr>
            <a:r>
              <a:t>•  Nur status='success' zählt als Watermark.  Fehlgeschlagene, Dry-Run- und Läufe mit fester --batch-id rücken sie NICHT vor.</a:t>
            </a:r>
          </a:p>
          <a:p>
            <a:pPr>
              <a:spcAft>
                <a:spcPts val="300"/>
              </a:spcAft>
              <a:defRPr sz="1150">
                <a:solidFill>
                  <a:srgbClr val="1A1A1A"/>
                </a:solidFill>
              </a:defRPr>
            </a:pPr>
            <a:r>
              <a:t>•  Watermark = NULL (noch nie erfolgreich gelaufen)  →  kein Filter  →  Delta verhält sich wie Full Load.   Full Load ignoriert die Watermark grundsätzlich.</a:t>
            </a:r>
          </a:p>
        </p:txBody>
      </p:sp>
      <p:sp>
        <p:nvSpPr>
          <p:cNvPr id="12" name="TextBox 11"/>
          <p:cNvSpPr txBox="1"/>
          <p:nvPr/>
        </p:nvSpPr>
        <p:spPr>
          <a:xfrm>
            <a:off x="457200" y="6446520"/>
            <a:ext cx="11247120" cy="320040"/>
          </a:xfrm>
          <a:prstGeom prst="rect">
            <a:avLst/>
          </a:prstGeom>
          <a:noFill/>
        </p:spPr>
        <p:txBody>
          <a:bodyPr wrap="square">
            <a:spAutoFit/>
          </a:bodyPr>
          <a:lstStyle/>
          <a:p>
            <a:pPr algn="l">
              <a:defRPr sz="1000" b="0" i="1">
                <a:solidFill>
                  <a:srgbClr val="5A5A5A"/>
                </a:solidFill>
              </a:defRPr>
            </a:pPr>
            <a:r>
              <a:t>media-lens – Lade-Strategie (Detail)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822960"/>
          </a:xfrm>
          <a:prstGeom prst="rect">
            <a:avLst/>
          </a:prstGeom>
          <a:noFill/>
        </p:spPr>
        <p:txBody>
          <a:bodyPr wrap="square">
            <a:spAutoFit/>
          </a:bodyPr>
          <a:lstStyle/>
          <a:p>
            <a:pPr>
              <a:defRPr sz="3000" b="1">
                <a:solidFill>
                  <a:srgbClr val="1F3B57"/>
                </a:solidFill>
              </a:defRPr>
            </a:pPr>
            <a:r>
              <a:t>Processing Pipeline Runner</a:t>
            </a:r>
          </a:p>
          <a:p>
            <a:pPr>
              <a:defRPr sz="1500">
                <a:solidFill>
                  <a:srgbClr val="5A5A5A"/>
                </a:solidFill>
              </a:defRPr>
            </a:pPr>
            <a:r>
              <a:t>Wie der Runner alle vier Module orchestriert</a:t>
            </a:r>
          </a:p>
        </p:txBody>
      </p:sp>
      <p:sp>
        <p:nvSpPr>
          <p:cNvPr id="3" name="Rectangle 2"/>
          <p:cNvSpPr/>
          <p:nvPr/>
        </p:nvSpPr>
        <p:spPr>
          <a:xfrm>
            <a:off x="457200" y="1051560"/>
            <a:ext cx="2011680" cy="381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303520" y="1417320"/>
            <a:ext cx="1645920" cy="731520"/>
          </a:xfrm>
          <a:prstGeom prst="roundRect">
            <a:avLst/>
          </a:prstGeom>
          <a:solidFill>
            <a:srgbClr val="1F3B57"/>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500" b="1">
                <a:solidFill>
                  <a:srgbClr val="FFFFFF"/>
                </a:solidFill>
              </a:defRPr>
            </a:pPr>
            <a:r>
              <a:t>Runner</a:t>
            </a:r>
          </a:p>
        </p:txBody>
      </p:sp>
      <p:sp>
        <p:nvSpPr>
          <p:cNvPr id="5" name="Rounded Rectangle 4"/>
          <p:cNvSpPr/>
          <p:nvPr/>
        </p:nvSpPr>
        <p:spPr>
          <a:xfrm>
            <a:off x="2209647" y="2651760"/>
            <a:ext cx="2377440" cy="822960"/>
          </a:xfrm>
          <a:prstGeom prst="roundRect">
            <a:avLst/>
          </a:prstGeom>
          <a:solidFill>
            <a:srgbClr val="E8F1F8"/>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300" b="0">
                <a:solidFill>
                  <a:srgbClr val="1A1A1A"/>
                </a:solidFill>
              </a:defRPr>
            </a:pPr>
            <a:r>
              <a:t>Text Summarizer</a:t>
            </a:r>
          </a:p>
        </p:txBody>
      </p:sp>
      <p:cxnSp>
        <p:nvCxnSpPr>
          <p:cNvPr id="6" name="Connector 5"/>
          <p:cNvCxnSpPr/>
          <p:nvPr/>
        </p:nvCxnSpPr>
        <p:spPr>
          <a:xfrm flipH="1">
            <a:off x="3398367" y="2148840"/>
            <a:ext cx="2728113" cy="502920"/>
          </a:xfrm>
          <a:prstGeom prst="line">
            <a:avLst/>
          </a:prstGeom>
          <a:ln w="19050">
            <a:solidFill>
              <a:srgbClr val="1F3B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907127" y="2651760"/>
            <a:ext cx="2377440" cy="822960"/>
          </a:xfrm>
          <a:prstGeom prst="roundRect">
            <a:avLst/>
          </a:prstGeom>
          <a:solidFill>
            <a:srgbClr val="E8F1F8"/>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300" b="0">
                <a:solidFill>
                  <a:srgbClr val="1A1A1A"/>
                </a:solidFill>
              </a:defRPr>
            </a:pPr>
            <a:r>
              <a:t>Fact Checker</a:t>
            </a:r>
          </a:p>
        </p:txBody>
      </p:sp>
      <p:cxnSp>
        <p:nvCxnSpPr>
          <p:cNvPr id="8" name="Connector 7"/>
          <p:cNvCxnSpPr/>
          <p:nvPr/>
        </p:nvCxnSpPr>
        <p:spPr>
          <a:xfrm flipH="1">
            <a:off x="6095847" y="2148840"/>
            <a:ext cx="30633" cy="502920"/>
          </a:xfrm>
          <a:prstGeom prst="line">
            <a:avLst/>
          </a:prstGeom>
          <a:ln w="19050">
            <a:solidFill>
              <a:srgbClr val="1F3B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604607" y="2651760"/>
            <a:ext cx="2377440" cy="822960"/>
          </a:xfrm>
          <a:prstGeom prst="roundRect">
            <a:avLst/>
          </a:prstGeom>
          <a:solidFill>
            <a:srgbClr val="E8F1F8"/>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300" b="0">
                <a:solidFill>
                  <a:srgbClr val="1A1A1A"/>
                </a:solidFill>
              </a:defRPr>
            </a:pPr>
            <a:r>
              <a:t>Emotion Analyser</a:t>
            </a:r>
          </a:p>
        </p:txBody>
      </p:sp>
      <p:cxnSp>
        <p:nvCxnSpPr>
          <p:cNvPr id="10" name="Connector 9"/>
          <p:cNvCxnSpPr/>
          <p:nvPr/>
        </p:nvCxnSpPr>
        <p:spPr>
          <a:xfrm>
            <a:off x="6126480" y="2148840"/>
            <a:ext cx="2666847" cy="502920"/>
          </a:xfrm>
          <a:prstGeom prst="line">
            <a:avLst/>
          </a:prstGeom>
          <a:ln w="19050">
            <a:solidFill>
              <a:srgbClr val="1F3B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209647" y="3520439"/>
            <a:ext cx="7772400" cy="274320"/>
          </a:xfrm>
          <a:prstGeom prst="rect">
            <a:avLst/>
          </a:prstGeom>
          <a:noFill/>
        </p:spPr>
        <p:txBody>
          <a:bodyPr wrap="square">
            <a:spAutoFit/>
          </a:bodyPr>
          <a:lstStyle/>
          <a:p>
            <a:pPr algn="ctr">
              <a:defRPr sz="1100" b="0" i="1">
                <a:solidFill>
                  <a:srgbClr val="2E86AB"/>
                </a:solidFill>
              </a:defRPr>
            </a:pPr>
            <a:r>
              <a:t>laufen gleichzeitig (parallel)</a:t>
            </a:r>
          </a:p>
        </p:txBody>
      </p:sp>
      <p:sp>
        <p:nvSpPr>
          <p:cNvPr id="12" name="Rounded Rectangle 11"/>
          <p:cNvSpPr/>
          <p:nvPr/>
        </p:nvSpPr>
        <p:spPr>
          <a:xfrm>
            <a:off x="2209647" y="4114800"/>
            <a:ext cx="2377440" cy="822960"/>
          </a:xfrm>
          <a:prstGeom prst="roundRect">
            <a:avLst/>
          </a:prstGeom>
          <a:solidFill>
            <a:srgbClr val="2E86AB"/>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300" b="1">
                <a:solidFill>
                  <a:srgbClr val="FFFFFF"/>
                </a:solidFill>
              </a:defRPr>
            </a:pPr>
            <a:r>
              <a:t>Embedder</a:t>
            </a:r>
          </a:p>
        </p:txBody>
      </p:sp>
      <p:cxnSp>
        <p:nvCxnSpPr>
          <p:cNvPr id="13" name="Connector 12"/>
          <p:cNvCxnSpPr/>
          <p:nvPr/>
        </p:nvCxnSpPr>
        <p:spPr>
          <a:xfrm>
            <a:off x="3398367" y="3474720"/>
            <a:ext cx="0" cy="640080"/>
          </a:xfrm>
          <a:prstGeom prst="line">
            <a:avLst/>
          </a:prstGeom>
          <a:ln w="19050">
            <a:solidFill>
              <a:srgbClr val="2E86A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80847" y="4251960"/>
            <a:ext cx="1737360" cy="640080"/>
          </a:xfrm>
          <a:prstGeom prst="rect">
            <a:avLst/>
          </a:prstGeom>
          <a:noFill/>
        </p:spPr>
        <p:txBody>
          <a:bodyPr wrap="square">
            <a:spAutoFit/>
          </a:bodyPr>
          <a:lstStyle/>
          <a:p>
            <a:pPr algn="r">
              <a:defRPr sz="1000" b="0" i="1">
                <a:solidFill>
                  <a:srgbClr val="5A5A5A"/>
                </a:solidFill>
              </a:defRPr>
            </a:pPr>
            <a:r>
              <a:t>wartet, bis die</a:t>
            </a:r>
            <a:br/>
            <a:r>
              <a:t>Zusammenfassung</a:t>
            </a:r>
            <a:br/>
            <a:r>
              <a:t>fertig ist</a:t>
            </a:r>
          </a:p>
        </p:txBody>
      </p:sp>
      <p:sp>
        <p:nvSpPr>
          <p:cNvPr id="15" name="TextBox 14"/>
          <p:cNvSpPr txBox="1"/>
          <p:nvPr/>
        </p:nvSpPr>
        <p:spPr>
          <a:xfrm>
            <a:off x="457200" y="5894697888000"/>
            <a:ext cx="10311958548000" cy="292644576000"/>
          </a:xfrm>
          <a:prstGeom prst="rect">
            <a:avLst/>
          </a:prstGeom>
          <a:noFill/>
        </p:spPr>
        <p:txBody>
          <a:bodyPr wrap="square">
            <a:spAutoFit/>
          </a:bodyPr>
          <a:lstStyle/>
          <a:p>
            <a:pPr algn="l">
              <a:defRPr sz="1000" b="0" i="1">
                <a:solidFill>
                  <a:srgbClr val="5A5A5A"/>
                </a:solidFill>
              </a:defRPr>
            </a:pPr>
            <a:r>
              <a:t>media-lens – Orchestrierung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822960"/>
          </a:xfrm>
          <a:prstGeom prst="rect">
            <a:avLst/>
          </a:prstGeom>
          <a:noFill/>
        </p:spPr>
        <p:txBody>
          <a:bodyPr wrap="square">
            <a:spAutoFit/>
          </a:bodyPr>
          <a:lstStyle/>
          <a:p>
            <a:pPr>
              <a:defRPr sz="3000" b="1">
                <a:solidFill>
                  <a:srgbClr val="1F3B57"/>
                </a:solidFill>
              </a:defRPr>
            </a:pPr>
            <a:r>
              <a:t>Modul 1: Text Summarizer</a:t>
            </a:r>
          </a:p>
          <a:p>
            <a:pPr>
              <a:defRPr sz="1500">
                <a:solidFill>
                  <a:srgbClr val="5A5A5A"/>
                </a:solidFill>
              </a:defRPr>
            </a:pPr>
            <a:r>
              <a:t>Automatisierte Zusammenfassungen je Kapitel &amp; Episode</a:t>
            </a:r>
          </a:p>
        </p:txBody>
      </p:sp>
      <p:sp>
        <p:nvSpPr>
          <p:cNvPr id="3" name="Rectangle 2"/>
          <p:cNvSpPr/>
          <p:nvPr/>
        </p:nvSpPr>
        <p:spPr>
          <a:xfrm>
            <a:off x="457200" y="1051560"/>
            <a:ext cx="2011680" cy="381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554480"/>
            <a:ext cx="5120640" cy="2377440"/>
          </a:xfrm>
          <a:prstGeom prst="rect">
            <a:avLst/>
          </a:prstGeom>
          <a:noFill/>
        </p:spPr>
        <p:txBody>
          <a:bodyPr wrap="square">
            <a:spAutoFit/>
          </a:bodyPr>
          <a:lstStyle/>
          <a:p>
            <a:pPr>
              <a:spcAft>
                <a:spcPts val="800"/>
              </a:spcAft>
              <a:defRPr sz="1500">
                <a:solidFill>
                  <a:srgbClr val="1A1A1A"/>
                </a:solidFill>
              </a:defRPr>
            </a:pPr>
            <a:r>
              <a:t>•  Input: Transkript-Text eines Kapitels</a:t>
            </a:r>
          </a:p>
          <a:p>
            <a:pPr>
              <a:spcAft>
                <a:spcPts val="800"/>
              </a:spcAft>
              <a:defRPr sz="1500">
                <a:solidFill>
                  <a:srgbClr val="1A1A1A"/>
                </a:solidFill>
              </a:defRPr>
            </a:pPr>
            <a:r>
              <a:t>•  Output: Zusammenfassung je Kapitel</a:t>
            </a:r>
            <a:br/>
            <a:r>
              <a:t>     und je Episode</a:t>
            </a:r>
          </a:p>
          <a:p>
            <a:pPr>
              <a:spcAft>
                <a:spcPts val="800"/>
              </a:spcAft>
              <a:defRPr sz="1500">
                <a:solidFill>
                  <a:srgbClr val="1A1A1A"/>
                </a:solidFill>
              </a:defRPr>
            </a:pPr>
            <a:r>
              <a:t>•  Modell: Sprachmodell (LLM) – z. B. Gemini</a:t>
            </a:r>
            <a:br/>
            <a:r>
              <a:t>     oder lokal über Ollama</a:t>
            </a:r>
          </a:p>
          <a:p>
            <a:pPr>
              <a:spcAft>
                <a:spcPts val="800"/>
              </a:spcAft>
              <a:defRPr sz="1500">
                <a:solidFill>
                  <a:srgbClr val="1A1A1A"/>
                </a:solidFill>
              </a:defRPr>
            </a:pPr>
            <a:r>
              <a:t>•  Deterministisch: bei gleichem Text</a:t>
            </a:r>
            <a:br/>
            <a:r>
              <a:t>     möglichst immer dieselbe Zusammenfassung</a:t>
            </a:r>
          </a:p>
        </p:txBody>
      </p:sp>
      <p:sp>
        <p:nvSpPr>
          <p:cNvPr id="5" name="Rounded Rectangle 4"/>
          <p:cNvSpPr/>
          <p:nvPr/>
        </p:nvSpPr>
        <p:spPr>
          <a:xfrm>
            <a:off x="6035040" y="1554480"/>
            <a:ext cx="2194560" cy="685800"/>
          </a:xfrm>
          <a:prstGeom prst="roundRect">
            <a:avLst/>
          </a:prstGeom>
          <a:solidFill>
            <a:srgbClr val="E8F1F8"/>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200" b="0">
                <a:solidFill>
                  <a:srgbClr val="1A1A1A"/>
                </a:solidFill>
              </a:defRPr>
            </a:pPr>
            <a:r>
              <a:t>Kapitel-</a:t>
            </a:r>
          </a:p>
          <a:p>
            <a:pPr algn="ctr">
              <a:defRPr sz="1100">
                <a:solidFill>
                  <a:srgbClr val="1A1A1A"/>
                </a:solidFill>
              </a:defRPr>
            </a:pPr>
            <a:r>
              <a:t>Transkripte</a:t>
            </a:r>
          </a:p>
        </p:txBody>
      </p:sp>
      <p:sp>
        <p:nvSpPr>
          <p:cNvPr id="6" name="Rounded Rectangle 5"/>
          <p:cNvSpPr/>
          <p:nvPr/>
        </p:nvSpPr>
        <p:spPr>
          <a:xfrm>
            <a:off x="6035040" y="2468880"/>
            <a:ext cx="2194560" cy="685800"/>
          </a:xfrm>
          <a:prstGeom prst="roundRect">
            <a:avLst/>
          </a:prstGeom>
          <a:solidFill>
            <a:srgbClr val="2E86AB"/>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200" b="1">
                <a:solidFill>
                  <a:srgbClr val="FFFFFF"/>
                </a:solidFill>
              </a:defRPr>
            </a:pPr>
            <a:r>
              <a:t>LLM</a:t>
            </a:r>
          </a:p>
          <a:p>
            <a:pPr algn="ctr">
              <a:defRPr sz="1100">
                <a:solidFill>
                  <a:srgbClr val="FFFFFF"/>
                </a:solidFill>
              </a:defRPr>
            </a:pPr>
            <a:r>
              <a:t>(je Kapitel)</a:t>
            </a:r>
          </a:p>
        </p:txBody>
      </p:sp>
      <p:sp>
        <p:nvSpPr>
          <p:cNvPr id="7" name="Rounded Rectangle 6"/>
          <p:cNvSpPr/>
          <p:nvPr/>
        </p:nvSpPr>
        <p:spPr>
          <a:xfrm>
            <a:off x="6035040" y="3383280"/>
            <a:ext cx="2194560" cy="685800"/>
          </a:xfrm>
          <a:prstGeom prst="roundRect">
            <a:avLst/>
          </a:prstGeom>
          <a:solidFill>
            <a:srgbClr val="E8F1F8"/>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200" b="0">
                <a:solidFill>
                  <a:srgbClr val="1A1A1A"/>
                </a:solidFill>
              </a:defRPr>
            </a:pPr>
            <a:r>
              <a:t>Kapitel-</a:t>
            </a:r>
          </a:p>
          <a:p>
            <a:pPr algn="ctr">
              <a:defRPr sz="1100">
                <a:solidFill>
                  <a:srgbClr val="1A1A1A"/>
                </a:solidFill>
              </a:defRPr>
            </a:pPr>
            <a:r>
              <a:t>Zusammenfassung</a:t>
            </a:r>
          </a:p>
        </p:txBody>
      </p:sp>
      <p:sp>
        <p:nvSpPr>
          <p:cNvPr id="8" name="Rounded Rectangle 7"/>
          <p:cNvSpPr/>
          <p:nvPr/>
        </p:nvSpPr>
        <p:spPr>
          <a:xfrm>
            <a:off x="6035040" y="4297680"/>
            <a:ext cx="2194560" cy="685800"/>
          </a:xfrm>
          <a:prstGeom prst="roundRect">
            <a:avLst/>
          </a:prstGeom>
          <a:solidFill>
            <a:srgbClr val="2E86AB"/>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200" b="1">
                <a:solidFill>
                  <a:srgbClr val="FFFFFF"/>
                </a:solidFill>
              </a:defRPr>
            </a:pPr>
            <a:r>
              <a:t>LLM</a:t>
            </a:r>
          </a:p>
          <a:p>
            <a:pPr algn="ctr">
              <a:defRPr sz="1100">
                <a:solidFill>
                  <a:srgbClr val="FFFFFF"/>
                </a:solidFill>
              </a:defRPr>
            </a:pPr>
            <a:r>
              <a:t>(je Episode)</a:t>
            </a:r>
          </a:p>
        </p:txBody>
      </p:sp>
      <p:sp>
        <p:nvSpPr>
          <p:cNvPr id="9" name="Rounded Rectangle 8"/>
          <p:cNvSpPr/>
          <p:nvPr/>
        </p:nvSpPr>
        <p:spPr>
          <a:xfrm>
            <a:off x="6035040" y="5212080"/>
            <a:ext cx="2194560" cy="685800"/>
          </a:xfrm>
          <a:prstGeom prst="roundRect">
            <a:avLst/>
          </a:prstGeom>
          <a:solidFill>
            <a:srgbClr val="E8F1F8"/>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200" b="0">
                <a:solidFill>
                  <a:srgbClr val="1A1A1A"/>
                </a:solidFill>
              </a:defRPr>
            </a:pPr>
            <a:r>
              <a:t>Episoden-</a:t>
            </a:r>
          </a:p>
          <a:p>
            <a:pPr algn="ctr">
              <a:defRPr sz="1100">
                <a:solidFill>
                  <a:srgbClr val="1A1A1A"/>
                </a:solidFill>
              </a:defRPr>
            </a:pPr>
            <a:r>
              <a:t>Zusammenfassung</a:t>
            </a:r>
          </a:p>
        </p:txBody>
      </p:sp>
      <p:cxnSp>
        <p:nvCxnSpPr>
          <p:cNvPr id="10" name="Connector 9"/>
          <p:cNvCxnSpPr/>
          <p:nvPr/>
        </p:nvCxnSpPr>
        <p:spPr>
          <a:xfrm>
            <a:off x="7132320" y="2240280"/>
            <a:ext cx="0" cy="228600"/>
          </a:xfrm>
          <a:prstGeom prst="line">
            <a:avLst/>
          </a:prstGeom>
          <a:ln w="19050">
            <a:solidFill>
              <a:srgbClr val="1F3B5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132320" y="3154680"/>
            <a:ext cx="0" cy="228600"/>
          </a:xfrm>
          <a:prstGeom prst="line">
            <a:avLst/>
          </a:prstGeom>
          <a:ln w="19050">
            <a:solidFill>
              <a:srgbClr val="1F3B5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132320" y="4069080"/>
            <a:ext cx="0" cy="228600"/>
          </a:xfrm>
          <a:prstGeom prst="line">
            <a:avLst/>
          </a:prstGeom>
          <a:ln w="19050">
            <a:solidFill>
              <a:srgbClr val="1F3B5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132320" y="4983480"/>
            <a:ext cx="0" cy="228600"/>
          </a:xfrm>
          <a:prstGeom prst="line">
            <a:avLst/>
          </a:prstGeom>
          <a:ln w="19050">
            <a:solidFill>
              <a:srgbClr val="1F3B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57200" y="5894697888000"/>
            <a:ext cx="10311958548000" cy="292644576000"/>
          </a:xfrm>
          <a:prstGeom prst="rect">
            <a:avLst/>
          </a:prstGeom>
          <a:noFill/>
        </p:spPr>
        <p:txBody>
          <a:bodyPr wrap="square">
            <a:spAutoFit/>
          </a:bodyPr>
          <a:lstStyle/>
          <a:p>
            <a:pPr algn="l">
              <a:defRPr sz="1000" b="0" i="1">
                <a:solidFill>
                  <a:srgbClr val="5A5A5A"/>
                </a:solidFill>
              </a:defRPr>
            </a:pPr>
            <a:r>
              <a:t>media-lens – Silver Enriched – Modul 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822960"/>
          </a:xfrm>
          <a:prstGeom prst="rect">
            <a:avLst/>
          </a:prstGeom>
          <a:noFill/>
        </p:spPr>
        <p:txBody>
          <a:bodyPr wrap="square">
            <a:spAutoFit/>
          </a:bodyPr>
          <a:lstStyle/>
          <a:p>
            <a:pPr>
              <a:defRPr sz="3000" b="1">
                <a:solidFill>
                  <a:srgbClr val="1F3B57"/>
                </a:solidFill>
              </a:defRPr>
            </a:pPr>
            <a:r>
              <a:t>Modul 2: Fact Checker</a:t>
            </a:r>
          </a:p>
          <a:p>
            <a:pPr>
              <a:defRPr sz="1500">
                <a:solidFill>
                  <a:srgbClr val="5A5A5A"/>
                </a:solidFill>
              </a:defRPr>
            </a:pPr>
            <a:r>
              <a:t>Behauptungen erkennen, recherchieren und bewerten</a:t>
            </a:r>
          </a:p>
        </p:txBody>
      </p:sp>
      <p:sp>
        <p:nvSpPr>
          <p:cNvPr id="3" name="Rectangle 2"/>
          <p:cNvSpPr/>
          <p:nvPr/>
        </p:nvSpPr>
        <p:spPr>
          <a:xfrm>
            <a:off x="457200" y="1051560"/>
            <a:ext cx="2011680" cy="381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508760"/>
            <a:ext cx="5212080" cy="2926080"/>
          </a:xfrm>
          <a:prstGeom prst="rect">
            <a:avLst/>
          </a:prstGeom>
          <a:noFill/>
        </p:spPr>
        <p:txBody>
          <a:bodyPr wrap="square">
            <a:spAutoFit/>
          </a:bodyPr>
          <a:lstStyle/>
          <a:p>
            <a:pPr>
              <a:spcAft>
                <a:spcPts val="800"/>
              </a:spcAft>
              <a:defRPr sz="1400">
                <a:solidFill>
                  <a:srgbClr val="1A1A1A"/>
                </a:solidFill>
              </a:defRPr>
            </a:pPr>
            <a:r>
              <a:t>•  Input: Transkript-Text eines Kapitels</a:t>
            </a:r>
          </a:p>
          <a:p>
            <a:pPr>
              <a:spcAft>
                <a:spcPts val="800"/>
              </a:spcAft>
              <a:defRPr sz="1400">
                <a:solidFill>
                  <a:srgbClr val="1A1A1A"/>
                </a:solidFill>
              </a:defRPr>
            </a:pPr>
            <a:r>
              <a:t>•  Output: jede Behauptung mit Urteil +</a:t>
            </a:r>
            <a:br/>
            <a:r>
              <a:t>     Begründung + Quellen</a:t>
            </a:r>
          </a:p>
          <a:p>
            <a:pPr>
              <a:spcAft>
                <a:spcPts val="800"/>
              </a:spcAft>
              <a:defRPr sz="1400">
                <a:solidFill>
                  <a:srgbClr val="1A1A1A"/>
                </a:solidFill>
              </a:defRPr>
            </a:pPr>
            <a:r>
              <a:t>•  Drei LLM-Rollen nacheinander: finden →</a:t>
            </a:r>
            <a:br/>
            <a:r>
              <a:t>     Suchanfragen → bewerten</a:t>
            </a:r>
          </a:p>
          <a:p>
            <a:pPr>
              <a:spcAft>
                <a:spcPts val="800"/>
              </a:spcAft>
              <a:defRPr sz="1400">
                <a:solidFill>
                  <a:srgbClr val="1A1A1A"/>
                </a:solidFill>
              </a:defRPr>
            </a:pPr>
            <a:r>
              <a:t>•  Web-Recherche über DuckDuckGo</a:t>
            </a:r>
          </a:p>
          <a:p>
            <a:pPr>
              <a:spcAft>
                <a:spcPts val="800"/>
              </a:spcAft>
              <a:defRPr sz="1400">
                <a:solidFill>
                  <a:srgbClr val="1A1A1A"/>
                </a:solidFill>
              </a:defRPr>
            </a:pPr>
            <a:r>
              <a:t>•  Urteile: wahr, größtenteils wahr,</a:t>
            </a:r>
            <a:br/>
            <a:r>
              <a:t>     irreführend, falsch, nicht überprüfbar</a:t>
            </a:r>
          </a:p>
        </p:txBody>
      </p:sp>
      <p:sp>
        <p:nvSpPr>
          <p:cNvPr id="5" name="Rounded Rectangle 4"/>
          <p:cNvSpPr/>
          <p:nvPr/>
        </p:nvSpPr>
        <p:spPr>
          <a:xfrm>
            <a:off x="6583680" y="1554480"/>
            <a:ext cx="2377440" cy="640080"/>
          </a:xfrm>
          <a:prstGeom prst="roundRect">
            <a:avLst/>
          </a:prstGeom>
          <a:solidFill>
            <a:srgbClr val="E8F1F8"/>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100" b="0">
                <a:solidFill>
                  <a:srgbClr val="1A1A1A"/>
                </a:solidFill>
              </a:defRPr>
            </a:pPr>
            <a:r>
              <a:t>Kapitel-Transkript</a:t>
            </a:r>
          </a:p>
        </p:txBody>
      </p:sp>
      <p:sp>
        <p:nvSpPr>
          <p:cNvPr id="6" name="Rounded Rectangle 5"/>
          <p:cNvSpPr/>
          <p:nvPr/>
        </p:nvSpPr>
        <p:spPr>
          <a:xfrm>
            <a:off x="6583680" y="2377439"/>
            <a:ext cx="2377440" cy="640080"/>
          </a:xfrm>
          <a:prstGeom prst="roundRect">
            <a:avLst/>
          </a:prstGeom>
          <a:solidFill>
            <a:srgbClr val="2E86AB"/>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100" b="1">
                <a:solidFill>
                  <a:srgbClr val="FFFFFF"/>
                </a:solidFill>
              </a:defRPr>
            </a:pPr>
            <a:r>
              <a:t>LLM: Behauptungen</a:t>
            </a:r>
          </a:p>
          <a:p>
            <a:pPr algn="ctr">
              <a:defRPr sz="1000">
                <a:solidFill>
                  <a:srgbClr val="FFFFFF"/>
                </a:solidFill>
              </a:defRPr>
            </a:pPr>
            <a:r>
              <a:t>finden</a:t>
            </a:r>
          </a:p>
        </p:txBody>
      </p:sp>
      <p:sp>
        <p:nvSpPr>
          <p:cNvPr id="7" name="Rounded Rectangle 6"/>
          <p:cNvSpPr/>
          <p:nvPr/>
        </p:nvSpPr>
        <p:spPr>
          <a:xfrm>
            <a:off x="6583680" y="3200400"/>
            <a:ext cx="2377440" cy="640080"/>
          </a:xfrm>
          <a:prstGeom prst="roundRect">
            <a:avLst/>
          </a:prstGeom>
          <a:solidFill>
            <a:srgbClr val="2E86AB"/>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100" b="1">
                <a:solidFill>
                  <a:srgbClr val="FFFFFF"/>
                </a:solidFill>
              </a:defRPr>
            </a:pPr>
            <a:r>
              <a:t>LLM: Suchanfragen</a:t>
            </a:r>
          </a:p>
          <a:p>
            <a:pPr algn="ctr">
              <a:defRPr sz="1000">
                <a:solidFill>
                  <a:srgbClr val="FFFFFF"/>
                </a:solidFill>
              </a:defRPr>
            </a:pPr>
            <a:r>
              <a:t>formulieren</a:t>
            </a:r>
          </a:p>
        </p:txBody>
      </p:sp>
      <p:sp>
        <p:nvSpPr>
          <p:cNvPr id="8" name="Rounded Rectangle 7"/>
          <p:cNvSpPr/>
          <p:nvPr/>
        </p:nvSpPr>
        <p:spPr>
          <a:xfrm>
            <a:off x="6583680" y="4023359"/>
            <a:ext cx="2377440" cy="640080"/>
          </a:xfrm>
          <a:prstGeom prst="roundRect">
            <a:avLst/>
          </a:prstGeom>
          <a:solidFill>
            <a:srgbClr val="F29B5B"/>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100" b="1">
                <a:solidFill>
                  <a:srgbClr val="FFFFFF"/>
                </a:solidFill>
              </a:defRPr>
            </a:pPr>
            <a:r>
              <a:t>Web-Suche</a:t>
            </a:r>
          </a:p>
        </p:txBody>
      </p:sp>
      <p:sp>
        <p:nvSpPr>
          <p:cNvPr id="9" name="Rounded Rectangle 8"/>
          <p:cNvSpPr/>
          <p:nvPr/>
        </p:nvSpPr>
        <p:spPr>
          <a:xfrm>
            <a:off x="6583680" y="4846320"/>
            <a:ext cx="2377440" cy="640080"/>
          </a:xfrm>
          <a:prstGeom prst="roundRect">
            <a:avLst/>
          </a:prstGeom>
          <a:solidFill>
            <a:srgbClr val="2E86AB"/>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100" b="1">
                <a:solidFill>
                  <a:srgbClr val="FFFFFF"/>
                </a:solidFill>
              </a:defRPr>
            </a:pPr>
            <a:r>
              <a:t>LLM: Bewerten</a:t>
            </a:r>
          </a:p>
          <a:p>
            <a:pPr algn="ctr">
              <a:defRPr sz="1000">
                <a:solidFill>
                  <a:srgbClr val="FFFFFF"/>
                </a:solidFill>
              </a:defRPr>
            </a:pPr>
            <a:r>
              <a:t>(nur anhand der Quellen)</a:t>
            </a:r>
          </a:p>
        </p:txBody>
      </p:sp>
      <p:sp>
        <p:nvSpPr>
          <p:cNvPr id="10" name="Rounded Rectangle 9"/>
          <p:cNvSpPr/>
          <p:nvPr/>
        </p:nvSpPr>
        <p:spPr>
          <a:xfrm>
            <a:off x="6583680" y="5669280"/>
            <a:ext cx="2377440" cy="640080"/>
          </a:xfrm>
          <a:prstGeom prst="roundRect">
            <a:avLst/>
          </a:prstGeom>
          <a:solidFill>
            <a:srgbClr val="E8F1F8"/>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100" b="0">
                <a:solidFill>
                  <a:srgbClr val="1A1A1A"/>
                </a:solidFill>
              </a:defRPr>
            </a:pPr>
            <a:r>
              <a:t>Urteil + Quellen</a:t>
            </a:r>
          </a:p>
        </p:txBody>
      </p:sp>
      <p:cxnSp>
        <p:nvCxnSpPr>
          <p:cNvPr id="11" name="Connector 10"/>
          <p:cNvCxnSpPr/>
          <p:nvPr/>
        </p:nvCxnSpPr>
        <p:spPr>
          <a:xfrm>
            <a:off x="7772400" y="2194560"/>
            <a:ext cx="0" cy="182879"/>
          </a:xfrm>
          <a:prstGeom prst="line">
            <a:avLst/>
          </a:prstGeom>
          <a:ln w="19050">
            <a:solidFill>
              <a:srgbClr val="1F3B5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3017520"/>
            <a:ext cx="0" cy="182880"/>
          </a:xfrm>
          <a:prstGeom prst="line">
            <a:avLst/>
          </a:prstGeom>
          <a:ln w="19050">
            <a:solidFill>
              <a:srgbClr val="1F3B5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3840480"/>
            <a:ext cx="0" cy="182879"/>
          </a:xfrm>
          <a:prstGeom prst="line">
            <a:avLst/>
          </a:prstGeom>
          <a:ln w="19050">
            <a:solidFill>
              <a:srgbClr val="1F3B5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4663440"/>
            <a:ext cx="0" cy="182880"/>
          </a:xfrm>
          <a:prstGeom prst="line">
            <a:avLst/>
          </a:prstGeom>
          <a:ln w="19050">
            <a:solidFill>
              <a:srgbClr val="1F3B5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772400" y="5486400"/>
            <a:ext cx="0" cy="182880"/>
          </a:xfrm>
          <a:prstGeom prst="line">
            <a:avLst/>
          </a:prstGeom>
          <a:ln w="19050">
            <a:solidFill>
              <a:srgbClr val="1F3B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57200" y="5894697888000"/>
            <a:ext cx="10311958548000" cy="292644576000"/>
          </a:xfrm>
          <a:prstGeom prst="rect">
            <a:avLst/>
          </a:prstGeom>
          <a:noFill/>
        </p:spPr>
        <p:txBody>
          <a:bodyPr wrap="square">
            <a:spAutoFit/>
          </a:bodyPr>
          <a:lstStyle/>
          <a:p>
            <a:pPr algn="l">
              <a:defRPr sz="1000" b="0" i="1">
                <a:solidFill>
                  <a:srgbClr val="5A5A5A"/>
                </a:solidFill>
              </a:defRPr>
            </a:pPr>
            <a:r>
              <a:t>media-lens – Silver Enriched – Modul 2/4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822960"/>
          </a:xfrm>
          <a:prstGeom prst="rect">
            <a:avLst/>
          </a:prstGeom>
          <a:noFill/>
        </p:spPr>
        <p:txBody>
          <a:bodyPr wrap="square">
            <a:spAutoFit/>
          </a:bodyPr>
          <a:lstStyle/>
          <a:p>
            <a:pPr>
              <a:defRPr sz="3000" b="1">
                <a:solidFill>
                  <a:srgbClr val="1F3B57"/>
                </a:solidFill>
              </a:defRPr>
            </a:pPr>
            <a:r>
              <a:t>Modul 3: Embedder</a:t>
            </a:r>
          </a:p>
          <a:p>
            <a:pPr>
              <a:defRPr sz="1500">
                <a:solidFill>
                  <a:srgbClr val="5A5A5A"/>
                </a:solidFill>
              </a:defRPr>
            </a:pPr>
            <a:r>
              <a:t>Vektor-Repräsentationen für die semantische Suche</a:t>
            </a:r>
          </a:p>
        </p:txBody>
      </p:sp>
      <p:sp>
        <p:nvSpPr>
          <p:cNvPr id="3" name="Rectangle 2"/>
          <p:cNvSpPr/>
          <p:nvPr/>
        </p:nvSpPr>
        <p:spPr>
          <a:xfrm>
            <a:off x="457200" y="1051560"/>
            <a:ext cx="2011680" cy="381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508760"/>
            <a:ext cx="5120640" cy="2377440"/>
          </a:xfrm>
          <a:prstGeom prst="rect">
            <a:avLst/>
          </a:prstGeom>
          <a:noFill/>
        </p:spPr>
        <p:txBody>
          <a:bodyPr wrap="square">
            <a:spAutoFit/>
          </a:bodyPr>
          <a:lstStyle/>
          <a:p>
            <a:pPr>
              <a:spcAft>
                <a:spcPts val="800"/>
              </a:spcAft>
              <a:defRPr sz="1400">
                <a:solidFill>
                  <a:srgbClr val="1A1A1A"/>
                </a:solidFill>
              </a:defRPr>
            </a:pPr>
            <a:r>
              <a:t>•  Erzeugt "Vektoren" (Zahlenreihen), die die</a:t>
            </a:r>
            <a:br/>
            <a:r>
              <a:t>     Bedeutung eines Textes abbilden</a:t>
            </a:r>
          </a:p>
          <a:p>
            <a:pPr>
              <a:spcAft>
                <a:spcPts val="800"/>
              </a:spcAft>
              <a:defRPr sz="1400">
                <a:solidFill>
                  <a:srgbClr val="1A1A1A"/>
                </a:solidFill>
              </a:defRPr>
            </a:pPr>
            <a:r>
              <a:t>•  Grundlage der semantischen Suche:</a:t>
            </a:r>
            <a:br/>
            <a:r>
              <a:t>     "finde inhaltlich Passendes", nicht nur</a:t>
            </a:r>
            <a:br/>
            <a:r>
              <a:t>     exakte Stichwörter</a:t>
            </a:r>
          </a:p>
          <a:p>
            <a:pPr>
              <a:spcAft>
                <a:spcPts val="800"/>
              </a:spcAft>
              <a:defRPr sz="1400">
                <a:solidFill>
                  <a:srgbClr val="1A1A1A"/>
                </a:solidFill>
              </a:defRPr>
            </a:pPr>
            <a:r>
              <a:t>•  Drei Ebenen: Podcast, Episode, Kapitel</a:t>
            </a:r>
          </a:p>
          <a:p>
            <a:pPr>
              <a:spcAft>
                <a:spcPts val="800"/>
              </a:spcAft>
              <a:defRPr sz="1400">
                <a:solidFill>
                  <a:srgbClr val="1A1A1A"/>
                </a:solidFill>
              </a:defRPr>
            </a:pPr>
            <a:r>
              <a:t>•  Reines Embedding-Modell (kein Chat) –</a:t>
            </a:r>
            <a:br/>
            <a:r>
              <a:t>     lokal (Ollama) oder Cloud (Gemini)</a:t>
            </a:r>
          </a:p>
        </p:txBody>
      </p:sp>
      <p:sp>
        <p:nvSpPr>
          <p:cNvPr id="5" name="Rounded Rectangle 4"/>
          <p:cNvSpPr/>
          <p:nvPr/>
        </p:nvSpPr>
        <p:spPr>
          <a:xfrm>
            <a:off x="6309360" y="1554480"/>
            <a:ext cx="2468880" cy="777240"/>
          </a:xfrm>
          <a:prstGeom prst="roundRect">
            <a:avLst/>
          </a:prstGeom>
          <a:solidFill>
            <a:srgbClr val="E8F1F8"/>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200" b="0">
                <a:solidFill>
                  <a:srgbClr val="1A1A1A"/>
                </a:solidFill>
              </a:defRPr>
            </a:pPr>
            <a:r>
              <a:t>Podcast</a:t>
            </a:r>
          </a:p>
          <a:p>
            <a:pPr algn="ctr">
              <a:defRPr sz="1100">
                <a:solidFill>
                  <a:srgbClr val="1A1A1A"/>
                </a:solidFill>
              </a:defRPr>
            </a:pPr>
            <a:r>
              <a:t>Titel des Podcasts</a:t>
            </a:r>
          </a:p>
        </p:txBody>
      </p:sp>
      <p:cxnSp>
        <p:nvCxnSpPr>
          <p:cNvPr id="6" name="Connector 5"/>
          <p:cNvCxnSpPr/>
          <p:nvPr/>
        </p:nvCxnSpPr>
        <p:spPr>
          <a:xfrm>
            <a:off x="8778240" y="1943100"/>
            <a:ext cx="914400" cy="0"/>
          </a:xfrm>
          <a:prstGeom prst="line">
            <a:avLst/>
          </a:prstGeom>
          <a:ln w="19050">
            <a:solidFill>
              <a:srgbClr val="1F3B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309360" y="2606039"/>
            <a:ext cx="2468880" cy="777240"/>
          </a:xfrm>
          <a:prstGeom prst="roundRect">
            <a:avLst/>
          </a:prstGeom>
          <a:solidFill>
            <a:srgbClr val="E8F1F8"/>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200" b="0">
                <a:solidFill>
                  <a:srgbClr val="1A1A1A"/>
                </a:solidFill>
              </a:defRPr>
            </a:pPr>
            <a:r>
              <a:t>Episode</a:t>
            </a:r>
          </a:p>
          <a:p>
            <a:pPr algn="ctr">
              <a:defRPr sz="1100">
                <a:solidFill>
                  <a:srgbClr val="1A1A1A"/>
                </a:solidFill>
              </a:defRPr>
            </a:pPr>
            <a:r>
              <a:t>Zusammenfassung der Episode</a:t>
            </a:r>
          </a:p>
          <a:p>
            <a:pPr algn="ctr">
              <a:defRPr sz="1100">
                <a:solidFill>
                  <a:srgbClr val="1A1A1A"/>
                </a:solidFill>
              </a:defRPr>
            </a:pPr>
            <a:r>
              <a:t>(braucht Text Summarizer)</a:t>
            </a:r>
          </a:p>
        </p:txBody>
      </p:sp>
      <p:cxnSp>
        <p:nvCxnSpPr>
          <p:cNvPr id="8" name="Connector 7"/>
          <p:cNvCxnSpPr/>
          <p:nvPr/>
        </p:nvCxnSpPr>
        <p:spPr>
          <a:xfrm>
            <a:off x="8778240" y="2994659"/>
            <a:ext cx="914400" cy="0"/>
          </a:xfrm>
          <a:prstGeom prst="line">
            <a:avLst/>
          </a:prstGeom>
          <a:ln w="19050">
            <a:solidFill>
              <a:srgbClr val="1F3B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309360" y="3657600"/>
            <a:ext cx="2468880" cy="777240"/>
          </a:xfrm>
          <a:prstGeom prst="roundRect">
            <a:avLst/>
          </a:prstGeom>
          <a:solidFill>
            <a:srgbClr val="E8F1F8"/>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200" b="0">
                <a:solidFill>
                  <a:srgbClr val="1A1A1A"/>
                </a:solidFill>
              </a:defRPr>
            </a:pPr>
            <a:r>
              <a:t>Kapitel</a:t>
            </a:r>
          </a:p>
          <a:p>
            <a:pPr algn="ctr">
              <a:defRPr sz="1100">
                <a:solidFill>
                  <a:srgbClr val="1A1A1A"/>
                </a:solidFill>
              </a:defRPr>
            </a:pPr>
            <a:r>
              <a:t>Volltext-Transkript des Kapitels</a:t>
            </a:r>
          </a:p>
        </p:txBody>
      </p:sp>
      <p:cxnSp>
        <p:nvCxnSpPr>
          <p:cNvPr id="10" name="Connector 9"/>
          <p:cNvCxnSpPr/>
          <p:nvPr/>
        </p:nvCxnSpPr>
        <p:spPr>
          <a:xfrm>
            <a:off x="8778240" y="4046220"/>
            <a:ext cx="914400" cy="0"/>
          </a:xfrm>
          <a:prstGeom prst="line">
            <a:avLst/>
          </a:prstGeom>
          <a:ln w="19050">
            <a:solidFill>
              <a:srgbClr val="1F3B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9692640" y="2468879"/>
            <a:ext cx="2103120" cy="777240"/>
          </a:xfrm>
          <a:prstGeom prst="roundRect">
            <a:avLst/>
          </a:prstGeom>
          <a:solidFill>
            <a:srgbClr val="2E86AB"/>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300" b="1">
                <a:solidFill>
                  <a:srgbClr val="FFFFFF"/>
                </a:solidFill>
              </a:defRPr>
            </a:pPr>
            <a:r>
              <a:t>Embedding-</a:t>
            </a:r>
          </a:p>
          <a:p>
            <a:pPr algn="ctr">
              <a:defRPr sz="1200">
                <a:solidFill>
                  <a:srgbClr val="FFFFFF"/>
                </a:solidFill>
              </a:defRPr>
            </a:pPr>
            <a:r>
              <a:t>Modell</a:t>
            </a:r>
          </a:p>
        </p:txBody>
      </p:sp>
      <p:cxnSp>
        <p:nvCxnSpPr>
          <p:cNvPr id="12" name="Connector 11"/>
          <p:cNvCxnSpPr/>
          <p:nvPr/>
        </p:nvCxnSpPr>
        <p:spPr>
          <a:xfrm>
            <a:off x="11795760" y="2857499"/>
            <a:ext cx="731520" cy="0"/>
          </a:xfrm>
          <a:prstGeom prst="line">
            <a:avLst/>
          </a:prstGeom>
          <a:ln w="19050">
            <a:solidFill>
              <a:srgbClr val="1F3B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12527280" y="2468879"/>
            <a:ext cx="1463040" cy="777240"/>
          </a:xfrm>
          <a:prstGeom prst="roundRect">
            <a:avLst/>
          </a:prstGeom>
          <a:solidFill>
            <a:srgbClr val="DDE3E8"/>
          </a:solidFill>
          <a:ln w="15875">
            <a:solidFill>
              <a:srgbClr val="5A5A5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200" b="0">
                <a:solidFill>
                  <a:srgbClr val="1A1A1A"/>
                </a:solidFill>
              </a:defRPr>
            </a:pPr>
            <a:r>
              <a:t>Datenbank</a:t>
            </a:r>
          </a:p>
          <a:p>
            <a:pPr algn="ctr">
              <a:defRPr sz="1100">
                <a:solidFill>
                  <a:srgbClr val="1A1A1A"/>
                </a:solidFill>
              </a:defRPr>
            </a:pPr>
            <a:r>
              <a:t>(Vektoren)</a:t>
            </a:r>
          </a:p>
        </p:txBody>
      </p:sp>
      <p:sp>
        <p:nvSpPr>
          <p:cNvPr id="14" name="TextBox 13"/>
          <p:cNvSpPr txBox="1"/>
          <p:nvPr/>
        </p:nvSpPr>
        <p:spPr>
          <a:xfrm>
            <a:off x="457200" y="5894697888000"/>
            <a:ext cx="10311958548000" cy="292644576000"/>
          </a:xfrm>
          <a:prstGeom prst="rect">
            <a:avLst/>
          </a:prstGeom>
          <a:noFill/>
        </p:spPr>
        <p:txBody>
          <a:bodyPr wrap="square">
            <a:spAutoFit/>
          </a:bodyPr>
          <a:lstStyle/>
          <a:p>
            <a:pPr algn="l">
              <a:defRPr sz="1000" b="0" i="1">
                <a:solidFill>
                  <a:srgbClr val="5A5A5A"/>
                </a:solidFill>
              </a:defRPr>
            </a:pPr>
            <a:r>
              <a:t>media-lens – Silver Enriched – Modul 3/4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822960"/>
          </a:xfrm>
          <a:prstGeom prst="rect">
            <a:avLst/>
          </a:prstGeom>
          <a:noFill/>
        </p:spPr>
        <p:txBody>
          <a:bodyPr wrap="square">
            <a:spAutoFit/>
          </a:bodyPr>
          <a:lstStyle/>
          <a:p>
            <a:pPr>
              <a:defRPr sz="3000" b="1">
                <a:solidFill>
                  <a:srgbClr val="1F3B57"/>
                </a:solidFill>
              </a:defRPr>
            </a:pPr>
            <a:r>
              <a:t>Modul 4: Emotion Analyser</a:t>
            </a:r>
          </a:p>
          <a:p>
            <a:pPr>
              <a:defRPr sz="1500">
                <a:solidFill>
                  <a:srgbClr val="5A5A5A"/>
                </a:solidFill>
              </a:defRPr>
            </a:pPr>
            <a:r>
              <a:t>Emotionserkennung je Transkript-Zeile aus dem Audio</a:t>
            </a:r>
          </a:p>
        </p:txBody>
      </p:sp>
      <p:sp>
        <p:nvSpPr>
          <p:cNvPr id="3" name="Rectangle 2"/>
          <p:cNvSpPr/>
          <p:nvPr/>
        </p:nvSpPr>
        <p:spPr>
          <a:xfrm>
            <a:off x="457200" y="1051560"/>
            <a:ext cx="2011680" cy="381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508760"/>
            <a:ext cx="5029200" cy="2377440"/>
          </a:xfrm>
          <a:prstGeom prst="rect">
            <a:avLst/>
          </a:prstGeom>
          <a:noFill/>
        </p:spPr>
        <p:txBody>
          <a:bodyPr wrap="square">
            <a:spAutoFit/>
          </a:bodyPr>
          <a:lstStyle/>
          <a:p>
            <a:pPr>
              <a:spcAft>
                <a:spcPts val="800"/>
              </a:spcAft>
              <a:defRPr sz="1400">
                <a:solidFill>
                  <a:srgbClr val="1A1A1A"/>
                </a:solidFill>
              </a:defRPr>
            </a:pPr>
            <a:r>
              <a:t>•  Input: Original-Audiodatei (aus MinIO)</a:t>
            </a:r>
            <a:br/>
            <a:r>
              <a:t>     + Start-/Endzeit je Transkript-Zeile</a:t>
            </a:r>
          </a:p>
          <a:p>
            <a:pPr>
              <a:spcAft>
                <a:spcPts val="800"/>
              </a:spcAft>
              <a:defRPr sz="1400">
                <a:solidFill>
                  <a:srgbClr val="1A1A1A"/>
                </a:solidFill>
              </a:defRPr>
            </a:pPr>
            <a:r>
              <a:t>•  Output: Emotion-Label + Konfidenz je Zeile</a:t>
            </a:r>
            <a:br/>
            <a:r>
              <a:t>     (neutral, fröhlich, wütend, traurig)</a:t>
            </a:r>
          </a:p>
          <a:p>
            <a:pPr>
              <a:spcAft>
                <a:spcPts val="800"/>
              </a:spcAft>
              <a:defRPr sz="1400">
                <a:solidFill>
                  <a:srgbClr val="1A1A1A"/>
                </a:solidFill>
              </a:defRPr>
            </a:pPr>
            <a:r>
              <a:t>•  Kein LLM, sondern ein Audio-</a:t>
            </a:r>
            <a:br/>
            <a:r>
              <a:t>     Klassifikationsmodell (wav2vec2)</a:t>
            </a:r>
          </a:p>
          <a:p>
            <a:pPr>
              <a:spcAft>
                <a:spcPts val="800"/>
              </a:spcAft>
              <a:defRPr sz="1400">
                <a:solidFill>
                  <a:srgbClr val="1A1A1A"/>
                </a:solidFill>
              </a:defRPr>
            </a:pPr>
            <a:r>
              <a:t>•  Klassifikation läuft auf dem externen</a:t>
            </a:r>
            <a:br/>
            <a:r>
              <a:t>     Spark-Server (per HTTP-Request)</a:t>
            </a:r>
          </a:p>
        </p:txBody>
      </p:sp>
      <p:sp>
        <p:nvSpPr>
          <p:cNvPr id="5" name="Rounded Rectangle 4"/>
          <p:cNvSpPr/>
          <p:nvPr/>
        </p:nvSpPr>
        <p:spPr>
          <a:xfrm>
            <a:off x="6400800" y="1554480"/>
            <a:ext cx="2468880" cy="685800"/>
          </a:xfrm>
          <a:prstGeom prst="roundRect">
            <a:avLst/>
          </a:prstGeom>
          <a:solidFill>
            <a:srgbClr val="E8F1F8"/>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100" b="0">
                <a:solidFill>
                  <a:srgbClr val="1A1A1A"/>
                </a:solidFill>
              </a:defRPr>
            </a:pPr>
            <a:r>
              <a:t>Transkript-Zeilen</a:t>
            </a:r>
          </a:p>
          <a:p>
            <a:pPr algn="ctr">
              <a:defRPr sz="1000">
                <a:solidFill>
                  <a:srgbClr val="1A1A1A"/>
                </a:solidFill>
              </a:defRPr>
            </a:pPr>
            <a:r>
              <a:t>je Episode</a:t>
            </a:r>
          </a:p>
        </p:txBody>
      </p:sp>
      <p:sp>
        <p:nvSpPr>
          <p:cNvPr id="6" name="Rounded Rectangle 5"/>
          <p:cNvSpPr/>
          <p:nvPr/>
        </p:nvSpPr>
        <p:spPr>
          <a:xfrm>
            <a:off x="6400800" y="2468880"/>
            <a:ext cx="2468880" cy="685800"/>
          </a:xfrm>
          <a:prstGeom prst="roundRect">
            <a:avLst/>
          </a:prstGeom>
          <a:solidFill>
            <a:srgbClr val="E8F1F8"/>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100" b="0">
                <a:solidFill>
                  <a:srgbClr val="1A1A1A"/>
                </a:solidFill>
              </a:defRPr>
            </a:pPr>
            <a:r>
              <a:t>Audio laden /</a:t>
            </a:r>
          </a:p>
          <a:p>
            <a:pPr algn="ctr">
              <a:defRPr sz="1000">
                <a:solidFill>
                  <a:srgbClr val="1A1A1A"/>
                </a:solidFill>
              </a:defRPr>
            </a:pPr>
            <a:r>
              <a:t>aus Cache</a:t>
            </a:r>
          </a:p>
        </p:txBody>
      </p:sp>
      <p:sp>
        <p:nvSpPr>
          <p:cNvPr id="7" name="Rounded Rectangle 6"/>
          <p:cNvSpPr/>
          <p:nvPr/>
        </p:nvSpPr>
        <p:spPr>
          <a:xfrm>
            <a:off x="6400800" y="3383280"/>
            <a:ext cx="2468880" cy="685800"/>
          </a:xfrm>
          <a:prstGeom prst="roundRect">
            <a:avLst/>
          </a:prstGeom>
          <a:solidFill>
            <a:srgbClr val="E8F1F8"/>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100" b="0">
                <a:solidFill>
                  <a:srgbClr val="1A1A1A"/>
                </a:solidFill>
              </a:defRPr>
            </a:pPr>
            <a:r>
              <a:t>Audio-Segment</a:t>
            </a:r>
          </a:p>
          <a:p>
            <a:pPr algn="ctr">
              <a:defRPr sz="1000">
                <a:solidFill>
                  <a:srgbClr val="1A1A1A"/>
                </a:solidFill>
              </a:defRPr>
            </a:pPr>
            <a:r>
              <a:t>zuschneiden (ffmpeg)</a:t>
            </a:r>
          </a:p>
        </p:txBody>
      </p:sp>
      <p:sp>
        <p:nvSpPr>
          <p:cNvPr id="8" name="Rounded Rectangle 7"/>
          <p:cNvSpPr/>
          <p:nvPr/>
        </p:nvSpPr>
        <p:spPr>
          <a:xfrm>
            <a:off x="6400800" y="4297680"/>
            <a:ext cx="2468880" cy="685800"/>
          </a:xfrm>
          <a:prstGeom prst="roundRect">
            <a:avLst/>
          </a:prstGeom>
          <a:solidFill>
            <a:srgbClr val="F29B5B"/>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100" b="1">
                <a:solidFill>
                  <a:srgbClr val="FFFFFF"/>
                </a:solidFill>
              </a:defRPr>
            </a:pPr>
            <a:r>
              <a:t>Emotionserkennung</a:t>
            </a:r>
          </a:p>
          <a:p>
            <a:pPr algn="ctr">
              <a:defRPr sz="1000">
                <a:solidFill>
                  <a:srgbClr val="FFFFFF"/>
                </a:solidFill>
              </a:defRPr>
            </a:pPr>
            <a:r>
              <a:t>(Spark-Server · HTTP)</a:t>
            </a:r>
          </a:p>
        </p:txBody>
      </p:sp>
      <p:sp>
        <p:nvSpPr>
          <p:cNvPr id="9" name="Rounded Rectangle 8"/>
          <p:cNvSpPr/>
          <p:nvPr/>
        </p:nvSpPr>
        <p:spPr>
          <a:xfrm>
            <a:off x="6400800" y="5212080"/>
            <a:ext cx="2468880" cy="685800"/>
          </a:xfrm>
          <a:prstGeom prst="roundRect">
            <a:avLst/>
          </a:prstGeom>
          <a:solidFill>
            <a:srgbClr val="E8F1F8"/>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defRPr sz="1100" b="0">
                <a:solidFill>
                  <a:srgbClr val="1A1A1A"/>
                </a:solidFill>
              </a:defRPr>
            </a:pPr>
            <a:r>
              <a:t>Emotion-Label +</a:t>
            </a:r>
          </a:p>
          <a:p>
            <a:pPr algn="ctr">
              <a:defRPr sz="1000">
                <a:solidFill>
                  <a:srgbClr val="1A1A1A"/>
                </a:solidFill>
              </a:defRPr>
            </a:pPr>
            <a:r>
              <a:t>Konfidenz speichern</a:t>
            </a:r>
          </a:p>
        </p:txBody>
      </p:sp>
      <p:cxnSp>
        <p:nvCxnSpPr>
          <p:cNvPr id="10" name="Connector 9"/>
          <p:cNvCxnSpPr/>
          <p:nvPr/>
        </p:nvCxnSpPr>
        <p:spPr>
          <a:xfrm>
            <a:off x="7635240" y="2240280"/>
            <a:ext cx="0" cy="228600"/>
          </a:xfrm>
          <a:prstGeom prst="line">
            <a:avLst/>
          </a:prstGeom>
          <a:ln w="19050">
            <a:solidFill>
              <a:srgbClr val="1F3B5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35240" y="3154680"/>
            <a:ext cx="0" cy="228600"/>
          </a:xfrm>
          <a:prstGeom prst="line">
            <a:avLst/>
          </a:prstGeom>
          <a:ln w="19050">
            <a:solidFill>
              <a:srgbClr val="1F3B5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35240" y="4069080"/>
            <a:ext cx="0" cy="228600"/>
          </a:xfrm>
          <a:prstGeom prst="line">
            <a:avLst/>
          </a:prstGeom>
          <a:ln w="19050">
            <a:solidFill>
              <a:srgbClr val="1F3B5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635240" y="4983480"/>
            <a:ext cx="0" cy="228600"/>
          </a:xfrm>
          <a:prstGeom prst="line">
            <a:avLst/>
          </a:prstGeom>
          <a:ln w="19050">
            <a:solidFill>
              <a:srgbClr val="1F3B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57200" y="5894697888000"/>
            <a:ext cx="10311958548000" cy="292644576000"/>
          </a:xfrm>
          <a:prstGeom prst="rect">
            <a:avLst/>
          </a:prstGeom>
          <a:noFill/>
        </p:spPr>
        <p:txBody>
          <a:bodyPr wrap="square">
            <a:spAutoFit/>
          </a:bodyPr>
          <a:lstStyle/>
          <a:p>
            <a:pPr algn="l">
              <a:defRPr sz="1000" b="0" i="1">
                <a:solidFill>
                  <a:srgbClr val="5A5A5A"/>
                </a:solidFill>
              </a:defRPr>
            </a:pPr>
            <a:r>
              <a:t>media-lens – Silver Enriched – Modul 4/4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822960"/>
          </a:xfrm>
          <a:prstGeom prst="rect">
            <a:avLst/>
          </a:prstGeom>
          <a:noFill/>
        </p:spPr>
        <p:txBody>
          <a:bodyPr wrap="square">
            <a:spAutoFit/>
          </a:bodyPr>
          <a:lstStyle/>
          <a:p>
            <a:pPr>
              <a:defRPr sz="3000" b="1">
                <a:solidFill>
                  <a:srgbClr val="1F3B57"/>
                </a:solidFill>
              </a:defRPr>
            </a:pPr>
            <a:r>
              <a:t>Wann wird ein Lauf ausgelöst? (Poll-Modus)</a:t>
            </a:r>
          </a:p>
          <a:p>
            <a:pPr>
              <a:defRPr sz="1500">
                <a:solidFill>
                  <a:srgbClr val="5A5A5A"/>
                </a:solidFill>
              </a:defRPr>
            </a:pPr>
            <a:r>
              <a:t>Der Runner kann sich selbst anstoßen, sobald neue vorverarbeitete Daten vorliegen</a:t>
            </a:r>
          </a:p>
        </p:txBody>
      </p:sp>
      <p:sp>
        <p:nvSpPr>
          <p:cNvPr id="3" name="Rectangle 2"/>
          <p:cNvSpPr/>
          <p:nvPr/>
        </p:nvSpPr>
        <p:spPr>
          <a:xfrm>
            <a:off x="457200" y="1051560"/>
            <a:ext cx="2011680" cy="381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45920" y="1508760"/>
            <a:ext cx="2743200" cy="502920"/>
          </a:xfrm>
          <a:prstGeom prst="roundRect">
            <a:avLst/>
          </a:prstGeom>
          <a:solidFill>
            <a:srgbClr val="1F3B57"/>
          </a:solidFill>
          <a:ln w="15875">
            <a:solidFill>
              <a:srgbClr val="1F3B5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300" b="1">
                <a:solidFill>
                  <a:srgbClr val="FFFFFF"/>
                </a:solidFill>
              </a:defRPr>
            </a:pPr>
            <a:r>
              <a:t>Start  (--poll)</a:t>
            </a:r>
          </a:p>
        </p:txBody>
      </p:sp>
      <p:sp>
        <p:nvSpPr>
          <p:cNvPr id="5" name="Rounded Rectangle 4"/>
          <p:cNvSpPr/>
          <p:nvPr/>
        </p:nvSpPr>
        <p:spPr>
          <a:xfrm>
            <a:off x="1645920" y="2240280"/>
            <a:ext cx="2743200" cy="777240"/>
          </a:xfrm>
          <a:prstGeom prst="roundRect">
            <a:avLst/>
          </a:prstGeom>
          <a:solidFill>
            <a:srgbClr val="F29B5B"/>
          </a:solidFill>
          <a:ln w="15875">
            <a:solidFill>
              <a:srgbClr val="C97A3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200" b="1">
                <a:solidFill>
                  <a:srgbClr val="1A1A1A"/>
                </a:solidFill>
              </a:defRPr>
            </a:pPr>
            <a:r>
              <a:t>Neue vorverarbeitete</a:t>
            </a:r>
          </a:p>
          <a:p>
            <a:pPr algn="ctr">
              <a:defRPr sz="1100">
                <a:solidFill>
                  <a:srgbClr val="1A1A1A"/>
                </a:solidFill>
              </a:defRPr>
            </a:pPr>
            <a:r>
              <a:t>Daten vorhanden?</a:t>
            </a:r>
          </a:p>
        </p:txBody>
      </p:sp>
      <p:sp>
        <p:nvSpPr>
          <p:cNvPr id="6" name="Rounded Rectangle 5"/>
          <p:cNvSpPr/>
          <p:nvPr/>
        </p:nvSpPr>
        <p:spPr>
          <a:xfrm>
            <a:off x="1645920" y="3246120"/>
            <a:ext cx="2743200" cy="640080"/>
          </a:xfrm>
          <a:prstGeom prst="roundRect">
            <a:avLst/>
          </a:prstGeom>
          <a:solidFill>
            <a:srgbClr val="2E86AB"/>
          </a:solidFill>
          <a:ln w="15875">
            <a:solidFill>
              <a:srgbClr val="1F3B5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200" b="1">
                <a:solidFill>
                  <a:srgbClr val="FFFFFF"/>
                </a:solidFill>
              </a:defRPr>
            </a:pPr>
            <a:r>
              <a:t>ja  →  run_pipeline</a:t>
            </a:r>
          </a:p>
          <a:p>
            <a:pPr algn="ctr">
              <a:defRPr sz="1100">
                <a:solidFill>
                  <a:srgbClr val="FFFFFF"/>
                </a:solidFill>
              </a:defRPr>
            </a:pPr>
            <a:r>
              <a:t>(ein voller Durchlauf)</a:t>
            </a:r>
          </a:p>
        </p:txBody>
      </p:sp>
      <p:sp>
        <p:nvSpPr>
          <p:cNvPr id="7" name="Rounded Rectangle 6"/>
          <p:cNvSpPr/>
          <p:nvPr/>
        </p:nvSpPr>
        <p:spPr>
          <a:xfrm>
            <a:off x="1645920" y="4114800"/>
            <a:ext cx="2743200" cy="640080"/>
          </a:xfrm>
          <a:prstGeom prst="roundRect">
            <a:avLst/>
          </a:prstGeom>
          <a:solidFill>
            <a:srgbClr val="E8F1F8"/>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200" b="0">
                <a:solidFill>
                  <a:srgbClr val="1A1A1A"/>
                </a:solidFill>
              </a:defRPr>
            </a:pPr>
            <a:r>
              <a:t>warten: poll_interval</a:t>
            </a:r>
          </a:p>
          <a:p>
            <a:pPr algn="ctr">
              <a:defRPr sz="1100">
                <a:solidFill>
                  <a:srgbClr val="1A1A1A"/>
                </a:solidFill>
              </a:defRPr>
            </a:pPr>
            <a:r>
              <a:t>(Default 60 s)</a:t>
            </a:r>
          </a:p>
        </p:txBody>
      </p:sp>
      <p:cxnSp>
        <p:nvCxnSpPr>
          <p:cNvPr id="8" name="Connector 7"/>
          <p:cNvCxnSpPr/>
          <p:nvPr/>
        </p:nvCxnSpPr>
        <p:spPr>
          <a:xfrm>
            <a:off x="3017520" y="2011680"/>
            <a:ext cx="0" cy="228600"/>
          </a:xfrm>
          <a:prstGeom prst="line">
            <a:avLst/>
          </a:prstGeom>
          <a:ln w="19050">
            <a:solidFill>
              <a:srgbClr val="1F3B5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017520" y="3017520"/>
            <a:ext cx="0" cy="228600"/>
          </a:xfrm>
          <a:prstGeom prst="line">
            <a:avLst/>
          </a:prstGeom>
          <a:ln w="19050">
            <a:solidFill>
              <a:srgbClr val="1F3B5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017520" y="3886200"/>
            <a:ext cx="0" cy="228600"/>
          </a:xfrm>
          <a:prstGeom prst="line">
            <a:avLst/>
          </a:prstGeom>
          <a:ln w="19050">
            <a:solidFill>
              <a:srgbClr val="1F3B5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389120" y="2628900"/>
            <a:ext cx="411480" cy="0"/>
          </a:xfrm>
          <a:prstGeom prst="line">
            <a:avLst/>
          </a:prstGeom>
          <a:ln w="19050">
            <a:solidFill>
              <a:srgbClr val="5A5A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800600" y="2628900"/>
            <a:ext cx="0" cy="1805940"/>
          </a:xfrm>
          <a:prstGeom prst="line">
            <a:avLst/>
          </a:prstGeom>
          <a:ln w="19050">
            <a:solidFill>
              <a:srgbClr val="5A5A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389120" y="4434840"/>
            <a:ext cx="411480" cy="0"/>
          </a:xfrm>
          <a:prstGeom prst="line">
            <a:avLst/>
          </a:prstGeom>
          <a:ln w="19050">
            <a:solidFill>
              <a:srgbClr val="5A5A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434840" y="2331720"/>
            <a:ext cx="914400" cy="274320"/>
          </a:xfrm>
          <a:prstGeom prst="rect">
            <a:avLst/>
          </a:prstGeom>
          <a:noFill/>
        </p:spPr>
        <p:txBody>
          <a:bodyPr wrap="square">
            <a:spAutoFit/>
          </a:bodyPr>
          <a:lstStyle/>
          <a:p>
            <a:pPr algn="l">
              <a:defRPr sz="1100" b="0" i="1">
                <a:solidFill>
                  <a:srgbClr val="5A5A5A"/>
                </a:solidFill>
              </a:defRPr>
            </a:pPr>
            <a:r>
              <a:t>nein</a:t>
            </a:r>
          </a:p>
        </p:txBody>
      </p:sp>
      <p:cxnSp>
        <p:nvCxnSpPr>
          <p:cNvPr id="15" name="Connector 14"/>
          <p:cNvCxnSpPr/>
          <p:nvPr/>
        </p:nvCxnSpPr>
        <p:spPr>
          <a:xfrm flipH="1">
            <a:off x="1188720" y="4434840"/>
            <a:ext cx="457200" cy="0"/>
          </a:xfrm>
          <a:prstGeom prst="line">
            <a:avLst/>
          </a:prstGeom>
          <a:ln w="19050">
            <a:solidFill>
              <a:srgbClr val="2E86A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1188720" y="2628900"/>
            <a:ext cx="0" cy="1805940"/>
          </a:xfrm>
          <a:prstGeom prst="line">
            <a:avLst/>
          </a:prstGeom>
          <a:ln w="19050">
            <a:solidFill>
              <a:srgbClr val="2E86A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88720" y="2628900"/>
            <a:ext cx="457200" cy="0"/>
          </a:xfrm>
          <a:prstGeom prst="line">
            <a:avLst/>
          </a:prstGeom>
          <a:ln w="19050">
            <a:solidFill>
              <a:srgbClr val="2E86A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20040" y="3200400"/>
            <a:ext cx="1188720" cy="548640"/>
          </a:xfrm>
          <a:prstGeom prst="rect">
            <a:avLst/>
          </a:prstGeom>
          <a:noFill/>
        </p:spPr>
        <p:txBody>
          <a:bodyPr wrap="square">
            <a:spAutoFit/>
          </a:bodyPr>
          <a:lstStyle/>
          <a:p>
            <a:pPr algn="ctr">
              <a:defRPr sz="1000" b="0" i="1">
                <a:solidFill>
                  <a:srgbClr val="2E86AB"/>
                </a:solidFill>
              </a:defRPr>
            </a:pPr>
            <a:r>
              <a:t>↻ nächster</a:t>
            </a:r>
            <a:br/>
            <a:r>
              <a:t>Tick</a:t>
            </a:r>
          </a:p>
        </p:txBody>
      </p:sp>
      <p:sp>
        <p:nvSpPr>
          <p:cNvPr id="19" name="Rounded Rectangle 18"/>
          <p:cNvSpPr/>
          <p:nvPr/>
        </p:nvSpPr>
        <p:spPr>
          <a:xfrm>
            <a:off x="6126480" y="1508760"/>
            <a:ext cx="5577840" cy="3154680"/>
          </a:xfrm>
          <a:prstGeom prst="roundRect">
            <a:avLst/>
          </a:prstGeom>
          <a:solidFill>
            <a:srgbClr val="F4F8FB"/>
          </a:solidFill>
          <a:ln w="15875">
            <a:solidFill>
              <a:srgbClr val="1F3B5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200" b="0">
                <a:solidFill>
                  <a:srgbClr val="1A1A1A"/>
                </a:solidFill>
              </a:defRPr>
            </a:pPr>
          </a:p>
        </p:txBody>
      </p:sp>
      <p:sp>
        <p:nvSpPr>
          <p:cNvPr id="20" name="TextBox 19"/>
          <p:cNvSpPr txBox="1"/>
          <p:nvPr/>
        </p:nvSpPr>
        <p:spPr>
          <a:xfrm>
            <a:off x="6355080" y="1618488"/>
            <a:ext cx="5120640" cy="320040"/>
          </a:xfrm>
          <a:prstGeom prst="rect">
            <a:avLst/>
          </a:prstGeom>
          <a:noFill/>
        </p:spPr>
        <p:txBody>
          <a:bodyPr wrap="square">
            <a:spAutoFit/>
          </a:bodyPr>
          <a:lstStyle/>
          <a:p>
            <a:pPr algn="l">
              <a:defRPr sz="1300" b="1" i="0">
                <a:solidFill>
                  <a:srgbClr val="1F3B57"/>
                </a:solidFill>
              </a:defRPr>
            </a:pPr>
            <a:r>
              <a:t>Trigger-Bedingung  (has_new_preprocessed_data)</a:t>
            </a:r>
          </a:p>
        </p:txBody>
      </p:sp>
      <p:sp>
        <p:nvSpPr>
          <p:cNvPr id="21" name="Rounded Rectangle 20"/>
          <p:cNvSpPr/>
          <p:nvPr/>
        </p:nvSpPr>
        <p:spPr>
          <a:xfrm>
            <a:off x="6400800" y="2148839"/>
            <a:ext cx="2331720" cy="1280160"/>
          </a:xfrm>
          <a:prstGeom prst="roundRect">
            <a:avLst/>
          </a:prstGeom>
          <a:solidFill>
            <a:srgbClr val="E8F1F8"/>
          </a:solidFill>
          <a:ln w="15875">
            <a:solidFill>
              <a:srgbClr val="5A5A5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0">
                <a:solidFill>
                  <a:srgbClr val="1A1A1A"/>
                </a:solidFill>
              </a:defRPr>
            </a:pPr>
            <a:r>
              <a:t>PREPROCESSING-Seite</a:t>
            </a:r>
          </a:p>
          <a:p>
            <a:pPr algn="ctr">
              <a:defRPr sz="1000">
                <a:solidFill>
                  <a:srgbClr val="1A1A1A"/>
                </a:solidFill>
              </a:defRPr>
            </a:pPr>
          </a:p>
          <a:p>
            <a:pPr algn="ctr">
              <a:defRPr sz="1000">
                <a:solidFill>
                  <a:srgbClr val="1A1A1A"/>
                </a:solidFill>
              </a:defRPr>
            </a:pPr>
            <a:r>
              <a:t>MAX(start_ts)</a:t>
            </a:r>
          </a:p>
          <a:p>
            <a:pPr algn="ctr">
              <a:defRPr sz="1000">
                <a:solidFill>
                  <a:srgbClr val="1A1A1A"/>
                </a:solidFill>
              </a:defRPr>
            </a:pPr>
            <a:r>
              <a:t>stage = 'segmenting'</a:t>
            </a:r>
          </a:p>
          <a:p>
            <a:pPr algn="ctr">
              <a:defRPr sz="1000">
                <a:solidFill>
                  <a:srgbClr val="1A1A1A"/>
                </a:solidFill>
              </a:defRPr>
            </a:pPr>
            <a:r>
              <a:t>status ∈ {success, consumed}</a:t>
            </a:r>
          </a:p>
        </p:txBody>
      </p:sp>
      <p:sp>
        <p:nvSpPr>
          <p:cNvPr id="22" name="Rounded Rectangle 21"/>
          <p:cNvSpPr/>
          <p:nvPr/>
        </p:nvSpPr>
        <p:spPr>
          <a:xfrm>
            <a:off x="9098280" y="2148839"/>
            <a:ext cx="2331720" cy="1280160"/>
          </a:xfrm>
          <a:prstGeom prst="roundRect">
            <a:avLst/>
          </a:prstGeom>
          <a:solidFill>
            <a:srgbClr val="E8F1F8"/>
          </a:solidFill>
          <a:ln w="15875">
            <a:solidFill>
              <a:srgbClr val="5A5A5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0">
                <a:solidFill>
                  <a:srgbClr val="1A1A1A"/>
                </a:solidFill>
              </a:defRPr>
            </a:pPr>
            <a:r>
              <a:t>PROCESSING-Seite</a:t>
            </a:r>
          </a:p>
          <a:p>
            <a:pPr algn="ctr">
              <a:defRPr sz="1000">
                <a:solidFill>
                  <a:srgbClr val="1A1A1A"/>
                </a:solidFill>
              </a:defRPr>
            </a:pPr>
          </a:p>
          <a:p>
            <a:pPr algn="ctr">
              <a:defRPr sz="1000">
                <a:solidFill>
                  <a:srgbClr val="1A1A1A"/>
                </a:solidFill>
              </a:defRPr>
            </a:pPr>
            <a:r>
              <a:t>MAX(start_ts)</a:t>
            </a:r>
          </a:p>
          <a:p>
            <a:pPr algn="ctr">
              <a:defRPr sz="1000">
                <a:solidFill>
                  <a:srgbClr val="1A1A1A"/>
                </a:solidFill>
              </a:defRPr>
            </a:pPr>
            <a:r>
              <a:t>stage ∈ {4 Module}</a:t>
            </a:r>
          </a:p>
          <a:p>
            <a:pPr algn="ctr">
              <a:defRPr sz="1000">
                <a:solidFill>
                  <a:srgbClr val="1A1A1A"/>
                </a:solidFill>
              </a:defRPr>
            </a:pPr>
            <a:r>
              <a:t>status = success</a:t>
            </a:r>
          </a:p>
        </p:txBody>
      </p:sp>
      <p:sp>
        <p:nvSpPr>
          <p:cNvPr id="23" name="TextBox 22"/>
          <p:cNvSpPr txBox="1"/>
          <p:nvPr/>
        </p:nvSpPr>
        <p:spPr>
          <a:xfrm>
            <a:off x="8732520" y="2560320"/>
            <a:ext cx="365760" cy="548640"/>
          </a:xfrm>
          <a:prstGeom prst="rect">
            <a:avLst/>
          </a:prstGeom>
          <a:noFill/>
        </p:spPr>
        <p:txBody>
          <a:bodyPr wrap="square">
            <a:spAutoFit/>
          </a:bodyPr>
          <a:lstStyle/>
          <a:p>
            <a:pPr algn="ctr">
              <a:defRPr sz="3000" b="1" i="0">
                <a:solidFill>
                  <a:srgbClr val="1F3B57"/>
                </a:solidFill>
              </a:defRPr>
            </a:pPr>
            <a:r>
              <a:t>&gt;</a:t>
            </a:r>
          </a:p>
        </p:txBody>
      </p:sp>
      <p:sp>
        <p:nvSpPr>
          <p:cNvPr id="24" name="TextBox 23"/>
          <p:cNvSpPr txBox="1"/>
          <p:nvPr/>
        </p:nvSpPr>
        <p:spPr>
          <a:xfrm>
            <a:off x="6400800" y="3520439"/>
            <a:ext cx="5029200" cy="640080"/>
          </a:xfrm>
          <a:prstGeom prst="rect">
            <a:avLst/>
          </a:prstGeom>
          <a:noFill/>
        </p:spPr>
        <p:txBody>
          <a:bodyPr wrap="square">
            <a:spAutoFit/>
          </a:bodyPr>
          <a:lstStyle/>
          <a:p>
            <a:pPr algn="ctr">
              <a:defRPr sz="1200" b="1" i="0">
                <a:solidFill>
                  <a:srgbClr val="1A1A1A"/>
                </a:solidFill>
              </a:defRPr>
            </a:pPr>
            <a:r>
              <a:t>Lauf fällig, wenn die Preprocessing-Seite NEUER ist als die Processing-Seite</a:t>
            </a:r>
            <a:br/>
            <a:r>
              <a:t>(oder Processing noch nie erfolgreich lief).</a:t>
            </a:r>
          </a:p>
        </p:txBody>
      </p:sp>
      <p:sp>
        <p:nvSpPr>
          <p:cNvPr id="25" name="Rounded Rectangle 24"/>
          <p:cNvSpPr/>
          <p:nvPr/>
        </p:nvSpPr>
        <p:spPr>
          <a:xfrm>
            <a:off x="457200" y="4892040"/>
            <a:ext cx="11274552" cy="1463040"/>
          </a:xfrm>
          <a:prstGeom prst="roundRect">
            <a:avLst/>
          </a:prstGeom>
          <a:solidFill>
            <a:srgbClr val="FDF1E2"/>
          </a:solidFill>
          <a:ln w="15875">
            <a:solidFill>
              <a:srgbClr val="F29B5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73152"/>
          <a:lstStyle/>
          <a:p>
            <a:pPr algn="ctr">
              <a:spcAft>
                <a:spcPts val="300"/>
              </a:spcAft>
              <a:defRPr sz="1150">
                <a:solidFill>
                  <a:srgbClr val="1A1A1A"/>
                </a:solidFill>
              </a:defRPr>
            </a:pPr>
            <a:r>
              <a:t>•  Standard ohne --poll: der Runner läuft genau EINMAL durch und beendet sich. Mit --poll bleibt er dauerhaft aktiv und stößt sich selbst an.</a:t>
            </a:r>
          </a:p>
          <a:p>
            <a:pPr>
              <a:spcAft>
                <a:spcPts val="300"/>
              </a:spcAft>
              <a:defRPr sz="1150">
                <a:solidFill>
                  <a:srgbClr val="1A1A1A"/>
                </a:solidFill>
              </a:defRPr>
            </a:pPr>
            <a:r>
              <a:t>•  DB-Polling statt Event/Broker: kein zusätzlicher Message-Broker nötig — nur ein Schlaf-Intervall plus eine SQL-Abfrage pro Tick.</a:t>
            </a:r>
          </a:p>
          <a:p>
            <a:pPr>
              <a:spcAft>
                <a:spcPts val="300"/>
              </a:spcAft>
              <a:defRPr sz="1150">
                <a:solidFill>
                  <a:srgbClr val="1A1A1A"/>
                </a:solidFill>
              </a:defRPr>
            </a:pPr>
            <a:r>
              <a:t>•  Nur 'segmenting' wird geprüft (nicht 'transcription'): ein erfolgreicher segmenting-Batch beweist, dass die Transkription dahinter bereits fertig ist.</a:t>
            </a:r>
          </a:p>
          <a:p>
            <a:pPr>
              <a:spcAft>
                <a:spcPts val="300"/>
              </a:spcAft>
              <a:defRPr sz="1150">
                <a:solidFill>
                  <a:srgbClr val="1A1A1A"/>
                </a:solidFill>
              </a:defRPr>
            </a:pPr>
            <a:r>
              <a:t>•  Graceful Shutdown: SIGINT (Strg+C) / SIGTERM (z. B. docker stop) beenden die Schleife nach dem laufenden Durchlauf — kein Abbruch mitten im DB-Write (2× Strg+C = sofort).</a:t>
            </a:r>
          </a:p>
        </p:txBody>
      </p:sp>
      <p:sp>
        <p:nvSpPr>
          <p:cNvPr id="26" name="TextBox 25"/>
          <p:cNvSpPr txBox="1"/>
          <p:nvPr/>
        </p:nvSpPr>
        <p:spPr>
          <a:xfrm>
            <a:off x="457200" y="6446520"/>
            <a:ext cx="11247120" cy="320040"/>
          </a:xfrm>
          <a:prstGeom prst="rect">
            <a:avLst/>
          </a:prstGeom>
          <a:noFill/>
        </p:spPr>
        <p:txBody>
          <a:bodyPr wrap="square">
            <a:spAutoFit/>
          </a:bodyPr>
          <a:lstStyle/>
          <a:p>
            <a:pPr algn="l">
              <a:defRPr sz="1000" b="0" i="1">
                <a:solidFill>
                  <a:srgbClr val="5A5A5A"/>
                </a:solidFill>
              </a:defRPr>
            </a:pPr>
            <a:r>
              <a:t>media-lens – Lade-Strategie (Trigger / Poll-Modus)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